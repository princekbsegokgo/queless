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</p:sldIdLst>
  <p:sldSz cx="30276000" cy="21384000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512" y="20"/>
      </p:cViewPr>
      <p:guideLst>
        <p:guide orient="horz" pos="455"/>
        <p:guide orient="horz" pos="13015"/>
        <p:guide orient="vert" pos="455"/>
        <p:guide orient="vert" pos="18616"/>
        <p:guide orient="vert" pos="6278"/>
        <p:guide orient="vert" pos="6624"/>
        <p:guide orient="vert" pos="12447"/>
        <p:guide orient="vert" pos="127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19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Title block"/>
          <p:cNvGrpSpPr/>
          <p:nvPr/>
        </p:nvGrpSpPr>
        <p:grpSpPr>
          <a:xfrm>
            <a:off x="722376" y="795528"/>
            <a:ext cx="18562320" cy="3264408"/>
            <a:chOff x="722376" y="795528"/>
            <a:chExt cx="18562320" cy="3264408"/>
          </a:xfrm>
        </p:grpSpPr>
        <p:sp>
          <p:nvSpPr>
            <p:cNvPr id="3" name="Eyebrow"/>
            <p:cNvSpPr txBox="1"/>
            <p:nvPr/>
          </p:nvSpPr>
          <p:spPr>
            <a:xfrm>
              <a:off x="722376" y="795528"/>
              <a:ext cx="18562320" cy="39319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1" i="0" spc="300">
                  <a:solidFill>
                    <a:schemeClr val="accent1"/>
                  </a:solidFill>
                  <a:latin typeface="+mn-lt"/>
                </a:rPr>
                <a:t>BSBS  •  SYSTEM DEVELOPMENT PROJECT</a:t>
              </a:r>
            </a:p>
          </p:txBody>
        </p:sp>
        <p:sp>
          <p:nvSpPr>
            <p:cNvPr id="4" name="Project title"/>
            <p:cNvSpPr txBox="1"/>
            <p:nvPr/>
          </p:nvSpPr>
          <p:spPr>
            <a:xfrm>
              <a:off x="722376" y="1225296"/>
              <a:ext cx="18562320" cy="11887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tx1"/>
                  </a:solidFill>
                  <a:latin typeface="+mj-lt"/>
                </a:rPr>
                <a:t>PROJECT TITLE</a:t>
              </a:r>
            </a:p>
          </p:txBody>
        </p:sp>
        <p:sp>
          <p:nvSpPr>
            <p:cNvPr id="5" name="Description"/>
            <p:cNvSpPr txBox="1"/>
            <p:nvPr/>
          </p:nvSpPr>
          <p:spPr>
            <a:xfrm>
              <a:off x="722376" y="2532888"/>
              <a:ext cx="18562320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200" b="0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[One-line description: what the artifact does and who it serves]</a:t>
              </a:r>
            </a:p>
          </p:txBody>
        </p:sp>
        <p:sp>
          <p:nvSpPr>
            <p:cNvPr id="6" name="Group members"/>
            <p:cNvSpPr txBox="1"/>
            <p:nvPr/>
          </p:nvSpPr>
          <p:spPr>
            <a:xfrm>
              <a:off x="722376" y="3118104"/>
              <a:ext cx="185623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000" b="0" i="0">
                  <a:solidFill>
                    <a:schemeClr val="tx1"/>
                  </a:solidFill>
                  <a:latin typeface="+mn-lt"/>
                </a:rPr>
                <a:t>Group Members: Student 1  |  Student 2  |  Student 3  |  Student 4</a:t>
              </a:r>
            </a:p>
          </p:txBody>
        </p:sp>
        <p:sp>
          <p:nvSpPr>
            <p:cNvPr id="7" name="Institution"/>
            <p:cNvSpPr txBox="1"/>
            <p:nvPr/>
          </p:nvSpPr>
          <p:spPr>
            <a:xfrm>
              <a:off x="722376" y="3648456"/>
              <a:ext cx="18562320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700" b="0" i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Institution Name  •  [School / Department]  •  [Academic year]</a:t>
              </a:r>
            </a:p>
          </p:txBody>
        </p:sp>
      </p:grpSp>
      <p:grpSp>
        <p:nvGrpSpPr>
          <p:cNvPr id="8" name="Project facts"/>
          <p:cNvGrpSpPr/>
          <p:nvPr/>
        </p:nvGrpSpPr>
        <p:grpSpPr>
          <a:xfrm>
            <a:off x="20308824" y="722376"/>
            <a:ext cx="9244584" cy="3291840"/>
            <a:chOff x="20308824" y="722376"/>
            <a:chExt cx="9244584" cy="3291840"/>
          </a:xfrm>
        </p:grpSpPr>
        <p:sp>
          <p:nvSpPr>
            <p:cNvPr id="9" name="Panel"/>
            <p:cNvSpPr/>
            <p:nvPr/>
          </p:nvSpPr>
          <p:spPr>
            <a:xfrm>
              <a:off x="20308824" y="722376"/>
              <a:ext cx="9244584" cy="3291840"/>
            </a:xfrm>
            <a:prstGeom prst="roundRect">
              <a:avLst>
                <a:gd name="adj" fmla="val 5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" name="Logo picture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532584" y="1005840"/>
              <a:ext cx="1655064" cy="1655064"/>
            </a:xfrm>
            <a:prstGeom prst="rect">
              <a:avLst/>
            </a:prstGeom>
          </p:spPr>
        </p:pic>
        <p:sp>
          <p:nvSpPr>
            <p:cNvPr id="11" name="Tech Stack label"/>
            <p:cNvSpPr txBox="1"/>
            <p:nvPr/>
          </p:nvSpPr>
          <p:spPr>
            <a:xfrm>
              <a:off x="20738592" y="996696"/>
              <a:ext cx="6428232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TECH STACK</a:t>
              </a:r>
            </a:p>
          </p:txBody>
        </p:sp>
        <p:sp>
          <p:nvSpPr>
            <p:cNvPr id="12" name="Tech Stack value"/>
            <p:cNvSpPr txBox="1"/>
            <p:nvPr/>
          </p:nvSpPr>
          <p:spPr>
            <a:xfrm>
              <a:off x="20738592" y="1344168"/>
              <a:ext cx="6428232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[e.g. Flutter + Firebase]</a:t>
              </a:r>
            </a:p>
          </p:txBody>
        </p:sp>
        <p:sp>
          <p:nvSpPr>
            <p:cNvPr id="13" name="Duration label"/>
            <p:cNvSpPr txBox="1"/>
            <p:nvPr/>
          </p:nvSpPr>
          <p:spPr>
            <a:xfrm>
              <a:off x="20738592" y="1941576"/>
              <a:ext cx="6428232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DURATION</a:t>
              </a:r>
            </a:p>
          </p:txBody>
        </p:sp>
        <p:sp>
          <p:nvSpPr>
            <p:cNvPr id="14" name="Duration value"/>
            <p:cNvSpPr txBox="1"/>
            <p:nvPr/>
          </p:nvSpPr>
          <p:spPr>
            <a:xfrm>
              <a:off x="20738592" y="2289048"/>
              <a:ext cx="6428232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[e.g. 12 weeks]</a:t>
              </a:r>
            </a:p>
          </p:txBody>
        </p:sp>
        <p:sp>
          <p:nvSpPr>
            <p:cNvPr id="15" name="Supervisor label"/>
            <p:cNvSpPr txBox="1"/>
            <p:nvPr/>
          </p:nvSpPr>
          <p:spPr>
            <a:xfrm>
              <a:off x="20738592" y="2886456"/>
              <a:ext cx="6428232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SUPERVISOR</a:t>
              </a:r>
            </a:p>
          </p:txBody>
        </p:sp>
        <p:sp>
          <p:nvSpPr>
            <p:cNvPr id="16" name="Supervisor value"/>
            <p:cNvSpPr txBox="1"/>
            <p:nvPr/>
          </p:nvSpPr>
          <p:spPr>
            <a:xfrm>
              <a:off x="20738592" y="3233928"/>
              <a:ext cx="6428232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[Name]</a:t>
              </a:r>
            </a:p>
          </p:txBody>
        </p:sp>
      </p:grpSp>
      <p:grpSp>
        <p:nvGrpSpPr>
          <p:cNvPr id="17" name="Section 1 - Introduction &amp; Problem Statement"/>
          <p:cNvGrpSpPr/>
          <p:nvPr/>
        </p:nvGrpSpPr>
        <p:grpSpPr>
          <a:xfrm>
            <a:off x="722376" y="4434840"/>
            <a:ext cx="9244584" cy="3931920"/>
            <a:chOff x="722376" y="4434840"/>
            <a:chExt cx="9244584" cy="3931920"/>
          </a:xfrm>
        </p:grpSpPr>
        <p:sp>
          <p:nvSpPr>
            <p:cNvPr id="18" name="Card"/>
            <p:cNvSpPr/>
            <p:nvPr/>
          </p:nvSpPr>
          <p:spPr>
            <a:xfrm>
              <a:off x="722376" y="4434840"/>
              <a:ext cx="9244584" cy="3931920"/>
            </a:xfrm>
            <a:prstGeom prst="roundRect">
              <a:avLst>
                <a:gd name="adj" fmla="val 4186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Number pill"/>
            <p:cNvSpPr/>
            <p:nvPr/>
          </p:nvSpPr>
          <p:spPr>
            <a:xfrm>
              <a:off x="1078992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Number"/>
            <p:cNvSpPr txBox="1"/>
            <p:nvPr/>
          </p:nvSpPr>
          <p:spPr>
            <a:xfrm>
              <a:off x="1078992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21" name="Heading"/>
            <p:cNvSpPr txBox="1"/>
            <p:nvPr/>
          </p:nvSpPr>
          <p:spPr>
            <a:xfrm>
              <a:off x="2203704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INTRODUCTION &amp; PROBLEM STATEMENT</a:t>
              </a:r>
            </a:p>
          </p:txBody>
        </p:sp>
        <p:sp>
          <p:nvSpPr>
            <p:cNvPr id="22" name="Introduction text"/>
            <p:cNvSpPr txBox="1"/>
            <p:nvPr/>
          </p:nvSpPr>
          <p:spPr>
            <a:xfrm>
              <a:off x="1078992" y="5577840"/>
              <a:ext cx="8531352" cy="2514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Background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Brief context of the problem domain.</a:t>
              </a:r>
            </a:p>
            <a:p>
              <a:pPr algn="l" marL="274320" indent="-274320">
                <a:spcAft>
                  <a:spcPts val="16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Who is affected and why a solution matters.</a:t>
              </a:r>
            </a:p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Problem Statement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Clearly explain the problem the artifact will solve.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Highlight why existing solutions fall short.</a:t>
              </a:r>
            </a:p>
          </p:txBody>
        </p:sp>
      </p:grpSp>
      <p:grpSp>
        <p:nvGrpSpPr>
          <p:cNvPr id="23" name="Section 2 - Literature Review"/>
          <p:cNvGrpSpPr/>
          <p:nvPr/>
        </p:nvGrpSpPr>
        <p:grpSpPr>
          <a:xfrm>
            <a:off x="722376" y="8641080"/>
            <a:ext cx="9244584" cy="10104120"/>
            <a:chOff x="722376" y="8641080"/>
            <a:chExt cx="9244584" cy="10104120"/>
          </a:xfrm>
        </p:grpSpPr>
        <p:sp>
          <p:nvSpPr>
            <p:cNvPr id="24" name="Card"/>
            <p:cNvSpPr/>
            <p:nvPr/>
          </p:nvSpPr>
          <p:spPr>
            <a:xfrm>
              <a:off x="722376" y="8641080"/>
              <a:ext cx="9244584" cy="10104120"/>
            </a:xfrm>
            <a:prstGeom prst="roundRect">
              <a:avLst>
                <a:gd name="adj" fmla="val 178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Number pill"/>
            <p:cNvSpPr/>
            <p:nvPr/>
          </p:nvSpPr>
          <p:spPr>
            <a:xfrm>
              <a:off x="1078992" y="897026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Number"/>
            <p:cNvSpPr txBox="1"/>
            <p:nvPr/>
          </p:nvSpPr>
          <p:spPr>
            <a:xfrm>
              <a:off x="1078992" y="8970264"/>
              <a:ext cx="91440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27" name="Heading"/>
            <p:cNvSpPr txBox="1"/>
            <p:nvPr/>
          </p:nvSpPr>
          <p:spPr>
            <a:xfrm>
              <a:off x="2203704" y="8887968"/>
              <a:ext cx="74157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LITERATURE REVIEW</a:t>
              </a:r>
            </a:p>
          </p:txBody>
        </p:sp>
        <p:sp>
          <p:nvSpPr>
            <p:cNvPr id="28" name="Literature review text"/>
            <p:cNvSpPr txBox="1"/>
            <p:nvPr/>
          </p:nvSpPr>
          <p:spPr>
            <a:xfrm>
              <a:off x="1078992" y="9784080"/>
              <a:ext cx="8531352" cy="15849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Key concepts and theories behind the artifact.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Review of existing systems and related work.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Strengths and limitations of current approaches.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The gap your artifact fills.</a:t>
              </a:r>
            </a:p>
          </p:txBody>
        </p:sp>
        <p:graphicFrame>
          <p:nvGraphicFramePr>
            <p:cNvPr id="29" name="Comparison table"/>
            <p:cNvGraphicFramePr>
              <a:graphicFrameLocks noGrp="1"/>
            </p:cNvGraphicFramePr>
            <p:nvPr/>
          </p:nvGraphicFramePr>
          <p:xfrm>
            <a:off x="1078992" y="11524488"/>
            <a:ext cx="8531352" cy="1920240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3241914"/>
                  <a:gridCol w="2644719"/>
                  <a:gridCol w="2644719"/>
                </a:tblGrid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Existing work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Strength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Limitation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[System / App B]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[Author (Year)]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384048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Proposed artifact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gridSpan="2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[How it addresses the gap]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hMerge="1"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/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</a:tr>
              </a:tbl>
            </a:graphicData>
          </a:graphic>
        </p:graphicFrame>
        <p:pic>
          <p:nvPicPr>
            <p:cNvPr id="30" name="Framework pictur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992" y="13645896"/>
              <a:ext cx="8531352" cy="4395216"/>
            </a:xfrm>
            <a:prstGeom prst="rect">
              <a:avLst/>
            </a:prstGeom>
          </p:spPr>
        </p:pic>
        <p:sp>
          <p:nvSpPr>
            <p:cNvPr id="31" name="Framework caption"/>
            <p:cNvSpPr txBox="1"/>
            <p:nvPr/>
          </p:nvSpPr>
          <p:spPr>
            <a:xfrm>
              <a:off x="1078992" y="18114264"/>
              <a:ext cx="8531352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1. [Conceptual framework or theory behind the artifact]</a:t>
              </a:r>
            </a:p>
          </p:txBody>
        </p:sp>
      </p:grpSp>
      <p:grpSp>
        <p:nvGrpSpPr>
          <p:cNvPr id="32" name="Section 3 - System Design"/>
          <p:cNvGrpSpPr/>
          <p:nvPr/>
        </p:nvGrpSpPr>
        <p:grpSpPr>
          <a:xfrm>
            <a:off x="10515600" y="4434840"/>
            <a:ext cx="9244584" cy="14310360"/>
            <a:chOff x="10515600" y="4434840"/>
            <a:chExt cx="9244584" cy="14310360"/>
          </a:xfrm>
        </p:grpSpPr>
        <p:sp>
          <p:nvSpPr>
            <p:cNvPr id="33" name="Card"/>
            <p:cNvSpPr/>
            <p:nvPr/>
          </p:nvSpPr>
          <p:spPr>
            <a:xfrm>
              <a:off x="10515600" y="4434840"/>
              <a:ext cx="9244584" cy="14310360"/>
            </a:xfrm>
            <a:prstGeom prst="roundRect">
              <a:avLst>
                <a:gd name="adj" fmla="val 178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Number pill"/>
            <p:cNvSpPr/>
            <p:nvPr/>
          </p:nvSpPr>
          <p:spPr>
            <a:xfrm>
              <a:off x="10872216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Number"/>
            <p:cNvSpPr txBox="1"/>
            <p:nvPr/>
          </p:nvSpPr>
          <p:spPr>
            <a:xfrm>
              <a:off x="10872216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36" name="Heading"/>
            <p:cNvSpPr txBox="1"/>
            <p:nvPr/>
          </p:nvSpPr>
          <p:spPr>
            <a:xfrm>
              <a:off x="11996928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SYSTEM DESIGN</a:t>
              </a:r>
            </a:p>
          </p:txBody>
        </p:sp>
        <p:sp>
          <p:nvSpPr>
            <p:cNvPr id="37" name="Design list 1"/>
            <p:cNvSpPr txBox="1"/>
            <p:nvPr/>
          </p:nvSpPr>
          <p:spPr>
            <a:xfrm>
              <a:off x="10872216" y="5577840"/>
              <a:ext cx="4082796" cy="2037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Functional and non-functional requirements.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System architecture and main components.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Design models: use-case, class, ERD or wireframes.</a:t>
              </a:r>
            </a:p>
          </p:txBody>
        </p:sp>
        <p:sp>
          <p:nvSpPr>
            <p:cNvPr id="38" name="Design list 2"/>
            <p:cNvSpPr txBox="1"/>
            <p:nvPr/>
          </p:nvSpPr>
          <p:spPr>
            <a:xfrm>
              <a:off x="15320772" y="5577840"/>
              <a:ext cx="4082796" cy="2037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Tools, technologies and frameworks used.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Development approach (e.g. Agile, prototyping).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Testing strategy (unit, integration, user).</a:t>
              </a:r>
            </a:p>
          </p:txBody>
        </p:sp>
        <p:sp>
          <p:nvSpPr>
            <p:cNvPr id="39" name="Design box 1"/>
            <p:cNvSpPr/>
            <p:nvPr/>
          </p:nvSpPr>
          <p:spPr>
            <a:xfrm>
              <a:off x="10872216" y="7843520"/>
              <a:ext cx="1652778" cy="137160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Users &amp;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Requirements</a:t>
              </a:r>
            </a:p>
          </p:txBody>
        </p:sp>
        <p:sp>
          <p:nvSpPr>
            <p:cNvPr id="40" name="Arrow 1"/>
            <p:cNvSpPr/>
            <p:nvPr/>
          </p:nvSpPr>
          <p:spPr>
            <a:xfrm>
              <a:off x="12653010" y="8337296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esign box 2"/>
            <p:cNvSpPr/>
            <p:nvPr/>
          </p:nvSpPr>
          <p:spPr>
            <a:xfrm>
              <a:off x="13165074" y="7843520"/>
              <a:ext cx="1652778" cy="137160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Interface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42" name="Arrow 2"/>
            <p:cNvSpPr/>
            <p:nvPr/>
          </p:nvSpPr>
          <p:spPr>
            <a:xfrm>
              <a:off x="14945868" y="8337296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esign box 3"/>
            <p:cNvSpPr/>
            <p:nvPr/>
          </p:nvSpPr>
          <p:spPr>
            <a:xfrm>
              <a:off x="15457932" y="7843520"/>
              <a:ext cx="1652778" cy="137160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Application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Logic / API</a:t>
              </a:r>
            </a:p>
          </p:txBody>
        </p:sp>
        <p:sp>
          <p:nvSpPr>
            <p:cNvPr id="44" name="Arrow 3"/>
            <p:cNvSpPr/>
            <p:nvPr/>
          </p:nvSpPr>
          <p:spPr>
            <a:xfrm>
              <a:off x="17238726" y="8337296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esign box 4"/>
            <p:cNvSpPr/>
            <p:nvPr/>
          </p:nvSpPr>
          <p:spPr>
            <a:xfrm>
              <a:off x="17750790" y="7843520"/>
              <a:ext cx="1652778" cy="137160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rtlCol="0" anchor="ctr" lIns="73152" rIns="73152" tIns="36576" bIns="36576" wrap="square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Data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46" name="Design caption"/>
            <p:cNvSpPr txBox="1"/>
            <p:nvPr/>
          </p:nvSpPr>
          <p:spPr>
            <a:xfrm>
              <a:off x="10872216" y="9288272"/>
              <a:ext cx="8531352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2. [High-level design — replace with your own architecture, UML model or wireframes]</a:t>
              </a:r>
            </a:p>
          </p:txBody>
        </p:sp>
        <p:pic>
          <p:nvPicPr>
            <p:cNvPr id="47" name="Architecture Diagram picture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72216" y="9928352"/>
              <a:ext cx="8531352" cy="3727196"/>
            </a:xfrm>
            <a:prstGeom prst="rect">
              <a:avLst/>
            </a:prstGeom>
          </p:spPr>
        </p:pic>
        <p:sp>
          <p:nvSpPr>
            <p:cNvPr id="48" name="Architecture Diagram caption"/>
            <p:cNvSpPr txBox="1"/>
            <p:nvPr/>
          </p:nvSpPr>
          <p:spPr>
            <a:xfrm>
              <a:off x="10872216" y="13728700"/>
              <a:ext cx="8531352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3. [System architecture]</a:t>
              </a:r>
            </a:p>
          </p:txBody>
        </p:sp>
        <p:pic>
          <p:nvPicPr>
            <p:cNvPr id="49" name="Erd / Uml / Wireframes picture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72216" y="14313916"/>
              <a:ext cx="8531352" cy="3727196"/>
            </a:xfrm>
            <a:prstGeom prst="rect">
              <a:avLst/>
            </a:prstGeom>
          </p:spPr>
        </p:pic>
        <p:sp>
          <p:nvSpPr>
            <p:cNvPr id="50" name="Erd / Uml / Wireframes caption"/>
            <p:cNvSpPr txBox="1"/>
            <p:nvPr/>
          </p:nvSpPr>
          <p:spPr>
            <a:xfrm>
              <a:off x="10872216" y="18114264"/>
              <a:ext cx="8531352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4. [Data, class or interface design]</a:t>
              </a:r>
            </a:p>
          </p:txBody>
        </p:sp>
      </p:grpSp>
      <p:grpSp>
        <p:nvGrpSpPr>
          <p:cNvPr id="51" name="Section 4 - Results &amp; Discussion"/>
          <p:cNvGrpSpPr/>
          <p:nvPr/>
        </p:nvGrpSpPr>
        <p:grpSpPr>
          <a:xfrm>
            <a:off x="20308824" y="4434840"/>
            <a:ext cx="9244584" cy="8686800"/>
            <a:chOff x="20308824" y="4434840"/>
            <a:chExt cx="9244584" cy="8686800"/>
          </a:xfrm>
        </p:grpSpPr>
        <p:sp>
          <p:nvSpPr>
            <p:cNvPr id="52" name="Card"/>
            <p:cNvSpPr/>
            <p:nvPr/>
          </p:nvSpPr>
          <p:spPr>
            <a:xfrm>
              <a:off x="20308824" y="4434840"/>
              <a:ext cx="9244584" cy="8686800"/>
            </a:xfrm>
            <a:prstGeom prst="roundRect">
              <a:avLst>
                <a:gd name="adj" fmla="val 189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Number pill"/>
            <p:cNvSpPr/>
            <p:nvPr/>
          </p:nvSpPr>
          <p:spPr>
            <a:xfrm>
              <a:off x="20665440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Number"/>
            <p:cNvSpPr txBox="1"/>
            <p:nvPr/>
          </p:nvSpPr>
          <p:spPr>
            <a:xfrm>
              <a:off x="20665440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55" name="Heading"/>
            <p:cNvSpPr txBox="1"/>
            <p:nvPr/>
          </p:nvSpPr>
          <p:spPr>
            <a:xfrm>
              <a:off x="21790152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RESULTS &amp; DISCUSSION</a:t>
              </a:r>
            </a:p>
          </p:txBody>
        </p:sp>
        <p:sp>
          <p:nvSpPr>
            <p:cNvPr id="56" name="Results text"/>
            <p:cNvSpPr txBox="1"/>
            <p:nvPr/>
          </p:nvSpPr>
          <p:spPr>
            <a:xfrm>
              <a:off x="20665440" y="5577840"/>
              <a:ext cx="8531352" cy="1168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Demonstrate the working artifact (screenshots, demo link).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Report evaluation results against the requirements.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Discuss how the artifact solves the stated problem.</a:t>
              </a:r>
            </a:p>
          </p:txBody>
        </p:sp>
        <p:pic>
          <p:nvPicPr>
            <p:cNvPr id="57" name="Artifact screenshot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665440" y="6929120"/>
              <a:ext cx="8531352" cy="3659632"/>
            </a:xfrm>
            <a:prstGeom prst="rect">
              <a:avLst/>
            </a:prstGeom>
          </p:spPr>
        </p:pic>
        <p:sp>
          <p:nvSpPr>
            <p:cNvPr id="58" name="Screenshot caption"/>
            <p:cNvSpPr txBox="1"/>
            <p:nvPr/>
          </p:nvSpPr>
          <p:spPr>
            <a:xfrm>
              <a:off x="20665440" y="10661904"/>
              <a:ext cx="8531352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5. [The working artifact in use]</a:t>
              </a:r>
            </a:p>
          </p:txBody>
        </p:sp>
        <p:graphicFrame>
          <p:nvGraphicFramePr>
            <p:cNvPr id="59" name="Evaluation table"/>
            <p:cNvGraphicFramePr>
              <a:graphicFrameLocks noGrp="1"/>
            </p:cNvGraphicFramePr>
            <p:nvPr/>
          </p:nvGraphicFramePr>
          <p:xfrm>
            <a:off x="20665440" y="11201400"/>
            <a:ext cx="8531352" cy="1645920"/>
          </p:xfrm>
          <a:graphic>
            <a:graphicData uri="http://schemas.openxmlformats.org/drawingml/2006/table">
              <a:tbl>
                <a:tblPr firstRow="0" bandRow="0">
                  <a:tableStyleId>{5940675A-B579-460E-94D1-54222C63F5DA}</a:tableStyleId>
                </a:tblPr>
                <a:tblGrid>
                  <a:gridCol w="2559406"/>
                  <a:gridCol w="3241914"/>
                  <a:gridCol w="1365016"/>
                  <a:gridCol w="1365016"/>
                </a:tblGrid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Evaluation criterion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Method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Target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Result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Functionality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Test cases passed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Usability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User testing / SUS survey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  <a:tr h="411480"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Performance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Response time, accuracy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[ ]</a:t>
                        </a:r>
                      </a:p>
                    </a:txBody>
                    <a:tcPr marL="91440" marR="91440"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60" name="Section 5 - Conclusion"/>
          <p:cNvGrpSpPr/>
          <p:nvPr/>
        </p:nvGrpSpPr>
        <p:grpSpPr>
          <a:xfrm>
            <a:off x="20308824" y="13395960"/>
            <a:ext cx="9244584" cy="2542032"/>
            <a:chOff x="20308824" y="13395960"/>
            <a:chExt cx="9244584" cy="2542032"/>
          </a:xfrm>
        </p:grpSpPr>
        <p:sp>
          <p:nvSpPr>
            <p:cNvPr id="61" name="Card"/>
            <p:cNvSpPr/>
            <p:nvPr/>
          </p:nvSpPr>
          <p:spPr>
            <a:xfrm>
              <a:off x="20308824" y="13395960"/>
              <a:ext cx="9244584" cy="2542032"/>
            </a:xfrm>
            <a:prstGeom prst="roundRect">
              <a:avLst>
                <a:gd name="adj" fmla="val 647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Number pill"/>
            <p:cNvSpPr/>
            <p:nvPr/>
          </p:nvSpPr>
          <p:spPr>
            <a:xfrm>
              <a:off x="20665440" y="1372514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Number"/>
            <p:cNvSpPr txBox="1"/>
            <p:nvPr/>
          </p:nvSpPr>
          <p:spPr>
            <a:xfrm>
              <a:off x="20665440" y="13725144"/>
              <a:ext cx="91440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64" name="Heading"/>
            <p:cNvSpPr txBox="1"/>
            <p:nvPr/>
          </p:nvSpPr>
          <p:spPr>
            <a:xfrm>
              <a:off x="21790152" y="13642848"/>
              <a:ext cx="74157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CONCLUSION</a:t>
              </a:r>
            </a:p>
          </p:txBody>
        </p:sp>
        <p:sp>
          <p:nvSpPr>
            <p:cNvPr id="65" name="Conclusion text"/>
            <p:cNvSpPr txBox="1"/>
            <p:nvPr/>
          </p:nvSpPr>
          <p:spPr>
            <a:xfrm>
              <a:off x="20665440" y="14538960"/>
              <a:ext cx="8531352" cy="112471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Summarise the main findings.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State the artifact's contribution to theory and practice.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Reflect on whether the design requirements were met.</a:t>
              </a:r>
            </a:p>
          </p:txBody>
        </p:sp>
      </p:grpSp>
      <p:grpSp>
        <p:nvGrpSpPr>
          <p:cNvPr id="66" name="Section 6 - Recommendations &amp; Future Work"/>
          <p:cNvGrpSpPr/>
          <p:nvPr/>
        </p:nvGrpSpPr>
        <p:grpSpPr>
          <a:xfrm>
            <a:off x="20308824" y="16203168"/>
            <a:ext cx="9244584" cy="2542032"/>
            <a:chOff x="20308824" y="16203168"/>
            <a:chExt cx="9244584" cy="2542032"/>
          </a:xfrm>
        </p:grpSpPr>
        <p:sp>
          <p:nvSpPr>
            <p:cNvPr id="67" name="Card"/>
            <p:cNvSpPr/>
            <p:nvPr/>
          </p:nvSpPr>
          <p:spPr>
            <a:xfrm>
              <a:off x="20308824" y="16203168"/>
              <a:ext cx="9244584" cy="2542032"/>
            </a:xfrm>
            <a:prstGeom prst="roundRect">
              <a:avLst>
                <a:gd name="adj" fmla="val 647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Number pill"/>
            <p:cNvSpPr/>
            <p:nvPr/>
          </p:nvSpPr>
          <p:spPr>
            <a:xfrm>
              <a:off x="20665440" y="16532352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Number"/>
            <p:cNvSpPr txBox="1"/>
            <p:nvPr/>
          </p:nvSpPr>
          <p:spPr>
            <a:xfrm>
              <a:off x="20665440" y="16532352"/>
              <a:ext cx="91440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70" name="Heading"/>
            <p:cNvSpPr txBox="1"/>
            <p:nvPr/>
          </p:nvSpPr>
          <p:spPr>
            <a:xfrm>
              <a:off x="21790152" y="16450056"/>
              <a:ext cx="7415784" cy="72237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RECOMMENDATIONS &amp; FUTURE WORK</a:t>
              </a:r>
            </a:p>
          </p:txBody>
        </p:sp>
        <p:sp>
          <p:nvSpPr>
            <p:cNvPr id="71" name="Recommendations text"/>
            <p:cNvSpPr txBox="1"/>
            <p:nvPr/>
          </p:nvSpPr>
          <p:spPr>
            <a:xfrm>
              <a:off x="20665440" y="17346168"/>
              <a:ext cx="8531352" cy="112471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Recommendations for users, organisations or adopters.</a:t>
              </a:r>
            </a:p>
            <a:p>
              <a:pPr algn="l" marL="274320" indent="-274320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Limitations of the artifact and of the evaluation.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Planned improvements, new features or extensions.</a:t>
              </a:r>
            </a:p>
          </p:txBody>
        </p:sp>
      </p:grpSp>
      <p:grpSp>
        <p:nvGrpSpPr>
          <p:cNvPr id="72" name="References and QR codes"/>
          <p:cNvGrpSpPr/>
          <p:nvPr/>
        </p:nvGrpSpPr>
        <p:grpSpPr>
          <a:xfrm>
            <a:off x="722376" y="19110960"/>
            <a:ext cx="28831032" cy="1554480"/>
            <a:chOff x="722376" y="19110960"/>
            <a:chExt cx="28831032" cy="1554480"/>
          </a:xfrm>
        </p:grpSpPr>
        <p:sp>
          <p:nvSpPr>
            <p:cNvPr id="73" name="Panel"/>
            <p:cNvSpPr/>
            <p:nvPr/>
          </p:nvSpPr>
          <p:spPr>
            <a:xfrm>
              <a:off x="722376" y="19110960"/>
              <a:ext cx="28831032" cy="1554480"/>
            </a:xfrm>
            <a:prstGeom prst="roundRect">
              <a:avLst>
                <a:gd name="adj" fmla="val 10588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ferences label"/>
            <p:cNvSpPr txBox="1"/>
            <p:nvPr/>
          </p:nvSpPr>
          <p:spPr>
            <a:xfrm>
              <a:off x="1152144" y="19348704"/>
              <a:ext cx="249174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6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REFERENCES</a:t>
              </a:r>
            </a:p>
          </p:txBody>
        </p:sp>
        <p:sp>
          <p:nvSpPr>
            <p:cNvPr id="75" name="References list"/>
            <p:cNvSpPr txBox="1"/>
            <p:nvPr/>
          </p:nvSpPr>
          <p:spPr>
            <a:xfrm>
              <a:off x="1152144" y="19769328"/>
              <a:ext cx="24917400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15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List key references used in the study (e.g. APA 7th style), including every source cited in the literature review.</a:t>
              </a:r>
            </a:p>
          </p:txBody>
        </p:sp>
        <p:pic>
          <p:nvPicPr>
            <p:cNvPr id="76" name="Code QR picture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026360" y="19275552"/>
              <a:ext cx="1225296" cy="1225296"/>
            </a:xfrm>
            <a:prstGeom prst="rect">
              <a:avLst/>
            </a:prstGeom>
          </p:spPr>
        </p:pic>
        <p:pic>
          <p:nvPicPr>
            <p:cNvPr id="77" name="Demo QR picture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343864" y="19275552"/>
              <a:ext cx="1225296" cy="12252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uide title"/>
          <p:cNvGrpSpPr/>
          <p:nvPr/>
        </p:nvGrpSpPr>
        <p:grpSpPr>
          <a:xfrm>
            <a:off x="722376" y="722376"/>
            <a:ext cx="28831248" cy="3236976"/>
            <a:chOff x="722376" y="722376"/>
            <a:chExt cx="28831248" cy="3236976"/>
          </a:xfrm>
        </p:grpSpPr>
        <p:sp>
          <p:nvSpPr>
            <p:cNvPr id="3" name="Panel"/>
            <p:cNvSpPr/>
            <p:nvPr/>
          </p:nvSpPr>
          <p:spPr>
            <a:xfrm>
              <a:off x="722376" y="722376"/>
              <a:ext cx="28831248" cy="3236976"/>
            </a:xfrm>
            <a:prstGeom prst="roundRect">
              <a:avLst>
                <a:gd name="adj" fmla="val 5084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itle"/>
            <p:cNvSpPr txBox="1"/>
            <p:nvPr/>
          </p:nvSpPr>
          <p:spPr>
            <a:xfrm>
              <a:off x="1271016" y="1179576"/>
              <a:ext cx="27733968" cy="10972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bg1"/>
                  </a:solidFill>
                  <a:latin typeface="+mj-lt"/>
                </a:rPr>
                <a:t>A1 POSTER LAYOUT, CUSTOMISING &amp; PRINTING GUIDE</a:t>
              </a:r>
            </a:p>
          </p:txBody>
        </p:sp>
        <p:sp>
          <p:nvSpPr>
            <p:cNvPr id="5" name="Subtitle"/>
            <p:cNvSpPr txBox="1"/>
            <p:nvPr/>
          </p:nvSpPr>
          <p:spPr>
            <a:xfrm>
              <a:off x="1271016" y="2505456"/>
              <a:ext cx="27733968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2800" b="0" i="0">
                  <a:solidFill>
                    <a:schemeClr val="bg1">
                      <a:lumMod val="88000"/>
                    </a:schemeClr>
                  </a:solidFill>
                  <a:latin typeface="+mn-lt"/>
                </a:rPr>
                <a:t>Poster C – Landscape.  Remove this instruction slide before submitting or printing the poster.</a:t>
              </a:r>
            </a:p>
          </p:txBody>
        </p:sp>
      </p:grpSp>
      <p:grpSp>
        <p:nvGrpSpPr>
          <p:cNvPr id="6" name="Guide - Poster Specifications"/>
          <p:cNvGrpSpPr/>
          <p:nvPr/>
        </p:nvGrpSpPr>
        <p:grpSpPr>
          <a:xfrm>
            <a:off x="722376" y="4416552"/>
            <a:ext cx="14141304" cy="5909074"/>
            <a:chOff x="722376" y="4416552"/>
            <a:chExt cx="14141304" cy="5909074"/>
          </a:xfrm>
        </p:grpSpPr>
        <p:sp>
          <p:nvSpPr>
            <p:cNvPr id="7" name="Card"/>
            <p:cNvSpPr/>
            <p:nvPr/>
          </p:nvSpPr>
          <p:spPr>
            <a:xfrm>
              <a:off x="722376" y="4416552"/>
              <a:ext cx="14141304" cy="5909074"/>
            </a:xfrm>
            <a:prstGeom prst="roundRect">
              <a:avLst>
                <a:gd name="adj" fmla="val 2785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ading"/>
            <p:cNvSpPr txBox="1"/>
            <p:nvPr/>
          </p:nvSpPr>
          <p:spPr>
            <a:xfrm>
              <a:off x="1271016" y="4828032"/>
              <a:ext cx="13044024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POSTER SPECIFICATIONS</a:t>
              </a:r>
            </a:p>
          </p:txBody>
        </p:sp>
        <p:sp>
          <p:nvSpPr>
            <p:cNvPr id="9" name="Items"/>
            <p:cNvSpPr txBox="1"/>
            <p:nvPr/>
          </p:nvSpPr>
          <p:spPr>
            <a:xfrm>
              <a:off x="1271016" y="5879592"/>
              <a:ext cx="13044024" cy="417171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Size: A1 landscape, 84.1 cm × 59.4 cm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Outer margins: 2 cm on all four sides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Three columns: 25.7 cm each with 1.5 cm spacing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Six sections: Introduction &amp; Problem Statement, Literature Review, System Design, Results &amp; Discussion, Conclusion, Recommendations &amp; Future Work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Create all content at the final poster size</a:t>
              </a:r>
            </a:p>
          </p:txBody>
        </p:sp>
      </p:grpSp>
      <p:grpSp>
        <p:nvGrpSpPr>
          <p:cNvPr id="10" name="Guide - Recommended Font Sizes"/>
          <p:cNvGrpSpPr/>
          <p:nvPr/>
        </p:nvGrpSpPr>
        <p:grpSpPr>
          <a:xfrm>
            <a:off x="722376" y="10691386"/>
            <a:ext cx="14141304" cy="4802239"/>
            <a:chOff x="722376" y="10691386"/>
            <a:chExt cx="14141304" cy="4802239"/>
          </a:xfrm>
        </p:grpSpPr>
        <p:sp>
          <p:nvSpPr>
            <p:cNvPr id="11" name="Card"/>
            <p:cNvSpPr/>
            <p:nvPr/>
          </p:nvSpPr>
          <p:spPr>
            <a:xfrm>
              <a:off x="722376" y="10691386"/>
              <a:ext cx="14141304" cy="4802239"/>
            </a:xfrm>
            <a:prstGeom prst="roundRect">
              <a:avLst>
                <a:gd name="adj" fmla="val 342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ading"/>
            <p:cNvSpPr txBox="1"/>
            <p:nvPr/>
          </p:nvSpPr>
          <p:spPr>
            <a:xfrm>
              <a:off x="1271016" y="11102866"/>
              <a:ext cx="13044024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RECOMMENDED FONT SIZES</a:t>
              </a:r>
            </a:p>
          </p:txBody>
        </p:sp>
        <p:sp>
          <p:nvSpPr>
            <p:cNvPr id="13" name="Items"/>
            <p:cNvSpPr txBox="1"/>
            <p:nvPr/>
          </p:nvSpPr>
          <p:spPr>
            <a:xfrm>
              <a:off x="1271016" y="12154426"/>
              <a:ext cx="13044024" cy="306487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Title: 48–54 pt  |  Section headings: 26–28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Group members: 20–24 pt  |  Body: 18–20 pt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Captions &amp; tables: 14–16 pt  |  References: 12–14 pt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Screenshots: crop to the relevant screen area so interface text stays readable at 1.5 m</a:t>
              </a:r>
            </a:p>
          </p:txBody>
        </p:sp>
      </p:grpSp>
      <p:grpSp>
        <p:nvGrpSpPr>
          <p:cNvPr id="14" name="Guide - Powerpoint &amp; Printing Checks"/>
          <p:cNvGrpSpPr/>
          <p:nvPr/>
        </p:nvGrpSpPr>
        <p:grpSpPr>
          <a:xfrm>
            <a:off x="722376" y="15859385"/>
            <a:ext cx="14141304" cy="4802239"/>
            <a:chOff x="722376" y="15859385"/>
            <a:chExt cx="14141304" cy="4802239"/>
          </a:xfrm>
        </p:grpSpPr>
        <p:sp>
          <p:nvSpPr>
            <p:cNvPr id="15" name="Card"/>
            <p:cNvSpPr/>
            <p:nvPr/>
          </p:nvSpPr>
          <p:spPr>
            <a:xfrm>
              <a:off x="722376" y="15859385"/>
              <a:ext cx="14141304" cy="4802239"/>
            </a:xfrm>
            <a:prstGeom prst="roundRect">
              <a:avLst>
                <a:gd name="adj" fmla="val 3427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ading"/>
            <p:cNvSpPr txBox="1"/>
            <p:nvPr/>
          </p:nvSpPr>
          <p:spPr>
            <a:xfrm>
              <a:off x="1271016" y="16270865"/>
              <a:ext cx="13044024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POWERPOINT &amp; PRINTING CHECKS</a:t>
              </a:r>
            </a:p>
          </p:txBody>
        </p:sp>
        <p:sp>
          <p:nvSpPr>
            <p:cNvPr id="17" name="Items"/>
            <p:cNvSpPr txBox="1"/>
            <p:nvPr/>
          </p:nvSpPr>
          <p:spPr>
            <a:xfrm>
              <a:off x="1271016" y="17322425"/>
              <a:ext cx="13044024" cy="306487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View › Guides: margin and column guides are already set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Keep all content within the poster boundaries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Export to PDF and verify dimensions before printing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Print at 100% / actual size, not Fit to Page</a:t>
              </a:r>
            </a:p>
          </p:txBody>
        </p:sp>
      </p:grpSp>
      <p:grpSp>
        <p:nvGrpSpPr>
          <p:cNvPr id="18" name="Guide - Customise Colours, Fonts And Layout"/>
          <p:cNvGrpSpPr/>
          <p:nvPr/>
        </p:nvGrpSpPr>
        <p:grpSpPr>
          <a:xfrm>
            <a:off x="15412320" y="4416552"/>
            <a:ext cx="14141304" cy="8945346"/>
            <a:chOff x="15412320" y="4416552"/>
            <a:chExt cx="14141304" cy="8945346"/>
          </a:xfrm>
        </p:grpSpPr>
        <p:sp>
          <p:nvSpPr>
            <p:cNvPr id="19" name="Card"/>
            <p:cNvSpPr/>
            <p:nvPr/>
          </p:nvSpPr>
          <p:spPr>
            <a:xfrm>
              <a:off x="15412320" y="4416552"/>
              <a:ext cx="14141304" cy="8945346"/>
            </a:xfrm>
            <a:prstGeom prst="roundRect">
              <a:avLst>
                <a:gd name="adj" fmla="val 1839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ading"/>
            <p:cNvSpPr txBox="1"/>
            <p:nvPr/>
          </p:nvSpPr>
          <p:spPr>
            <a:xfrm>
              <a:off x="15960960" y="4828032"/>
              <a:ext cx="13044024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CUSTOMISE COLOURS, FONTS AND LAYOUT</a:t>
              </a:r>
            </a:p>
          </p:txBody>
        </p:sp>
        <p:sp>
          <p:nvSpPr>
            <p:cNvPr id="21" name="Items"/>
            <p:cNvSpPr txBox="1"/>
            <p:nvPr/>
          </p:nvSpPr>
          <p:spPr>
            <a:xfrm>
              <a:off x="15960960" y="5879592"/>
              <a:ext cx="13044024" cy="720798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Colours: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Colors. Pick a palette or choose Customize Colors. Every shape uses theme colours, so the whole poster changes at once.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Fonts: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Design › Variants › ▾ More › Fonts.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Move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each section is one group. Click its edge and drag it; sections in the same column share a width, so they swap cleanly.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Edit inside a section: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click the group, then click the item. To resize parts, right-click › Group › Ungroup, then regroup (Ctrl/Cmd + G).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Find, hide or reorder sections: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Home › Arrange › Selection Pane.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Pictures: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right-click a placeholder › Change Picture. Use Crop › Fill if the image looks stretched.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1" i="0">
                  <a:solidFill>
                    <a:schemeClr val="tx1"/>
                  </a:solidFill>
                  <a:latin typeface="+mn-lt"/>
                </a:rPr>
                <a:t>Design diagram: </a:t>
              </a:r>
              <a:r>
                <a:rPr sz="2600" b="0" i="0">
                  <a:solidFill>
                    <a:schemeClr val="tx1"/>
                  </a:solidFill>
                  <a:latin typeface="+mn-lt"/>
                </a:rPr>
                <a:t>the System Design boxes are ordinary shapes — retype, recolour, add or delete them.</a:t>
              </a:r>
            </a:p>
          </p:txBody>
        </p:sp>
      </p:grpSp>
      <p:grpSp>
        <p:nvGrpSpPr>
          <p:cNvPr id="22" name="Guide - Content Checks"/>
          <p:cNvGrpSpPr/>
          <p:nvPr/>
        </p:nvGrpSpPr>
        <p:grpSpPr>
          <a:xfrm>
            <a:off x="15412320" y="13727658"/>
            <a:ext cx="14141304" cy="6933966"/>
            <a:chOff x="15412320" y="13727658"/>
            <a:chExt cx="14141304" cy="6933966"/>
          </a:xfrm>
        </p:grpSpPr>
        <p:sp>
          <p:nvSpPr>
            <p:cNvPr id="23" name="Card"/>
            <p:cNvSpPr/>
            <p:nvPr/>
          </p:nvSpPr>
          <p:spPr>
            <a:xfrm>
              <a:off x="15412320" y="13727658"/>
              <a:ext cx="14141304" cy="6933966"/>
            </a:xfrm>
            <a:prstGeom prst="roundRect">
              <a:avLst>
                <a:gd name="adj" fmla="val 2373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ading"/>
            <p:cNvSpPr txBox="1"/>
            <p:nvPr/>
          </p:nvSpPr>
          <p:spPr>
            <a:xfrm>
              <a:off x="15960960" y="14139138"/>
              <a:ext cx="13044024" cy="7772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sz="3200" b="1" i="0">
                  <a:solidFill>
                    <a:schemeClr val="accent1"/>
                  </a:solidFill>
                  <a:latin typeface="+mj-lt"/>
                </a:rPr>
                <a:t>CONTENT CHECKS</a:t>
              </a:r>
            </a:p>
          </p:txBody>
        </p:sp>
        <p:sp>
          <p:nvSpPr>
            <p:cNvPr id="25" name="Items"/>
            <p:cNvSpPr txBox="1"/>
            <p:nvPr/>
          </p:nvSpPr>
          <p:spPr>
            <a:xfrm>
              <a:off x="15960960" y="15190698"/>
              <a:ext cx="13044024" cy="519660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Every requirement in System Design should be evaluated in Results &amp; Discussion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Literature review: compare at least three existing works and state the gap your artifact fills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Cite every source from the literature review in the References band (APA 7th)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Use real diagrams (architecture, UML, ERD or wireframes) exported at high resolution (≥ 300 dpi)</a:t>
              </a:r>
            </a:p>
            <a:p>
              <a:pPr algn="l" marL="274320" indent="-274320">
                <a:spcAft>
                  <a:spcPts val="12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Replace every [ ] in the evaluation table with your actual results</a:t>
              </a:r>
            </a:p>
            <a:p>
              <a:pPr algn="l" marL="274320" indent="-274320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600" b="0" i="0">
                  <a:solidFill>
                    <a:schemeClr val="tx1"/>
                  </a:solidFill>
                  <a:latin typeface="+mn-lt"/>
                </a:rPr>
                <a:t>Point the QR codes to a working demo video, live system or code repository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oster C – Landscape">
  <a:themeElements>
    <a:clrScheme name="Poster C – Landscape">
      <a:dk1>
        <a:srgbClr val="1F2A22"/>
      </a:dk1>
      <a:lt1>
        <a:srgbClr val="FFFFFF"/>
      </a:lt1>
      <a:dk2>
        <a:srgbClr val="1F3A2B"/>
      </a:dk2>
      <a:lt2>
        <a:srgbClr val="F0F4EC"/>
      </a:lt2>
      <a:accent1>
        <a:srgbClr val="2C7A3F"/>
      </a:accent1>
      <a:accent2>
        <a:srgbClr val="9A5B23"/>
      </a:accent2>
      <a:accent3>
        <a:srgbClr val="97BC62"/>
      </a:accent3>
      <a:accent4>
        <a:srgbClr val="C9A66B"/>
      </a:accent4>
      <a:accent5>
        <a:srgbClr val="DCEBD3"/>
      </a:accent5>
      <a:accent6>
        <a:srgbClr val="5F6F64"/>
      </a:accent6>
      <a:hlink>
        <a:srgbClr val="2C7A3F"/>
      </a:hlink>
      <a:folHlink>
        <a:srgbClr val="5F6F64"/>
      </a:folHlink>
    </a:clrScheme>
    <a:fontScheme name="Poster C – Landscape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Custom</PresentationFormat>
  <Paragraphs>129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SysDev Showcase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Poster Template B</dc:title>
  <dc:subject>PptxGenJS Presentation</dc:subject>
  <dc:creator>BSBS</dc:creator>
  <cp:lastModifiedBy>Dr. Tshepiso Larona Mokgetse</cp:lastModifiedBy>
  <cp:revision>1</cp:revision>
  <dcterms:created xsi:type="dcterms:W3CDTF">2026-10-12T06:40:15Z</dcterms:created>
  <dcterms:modified xsi:type="dcterms:W3CDTF">2026-10-12T06:42:11Z</dcterms:modified>
</cp:coreProperties>
</file>