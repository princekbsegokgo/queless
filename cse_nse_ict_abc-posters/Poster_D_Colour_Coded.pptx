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</p:sldIdLst>
  <p:sldSz cx="21384000" cy="30276000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512" y="20"/>
      </p:cViewPr>
      <p:guideLst>
        <p:guide orient="horz" pos="455"/>
        <p:guide orient="horz" pos="18616"/>
        <p:guide orient="vert" pos="455"/>
        <p:guide orient="vert" pos="13015"/>
        <p:guide orient="vert" pos="6555"/>
        <p:guide orient="vert" pos="6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ader band"/>
          <p:cNvGrpSpPr/>
          <p:nvPr/>
        </p:nvGrpSpPr>
        <p:grpSpPr>
          <a:xfrm>
            <a:off x="722376" y="722376"/>
            <a:ext cx="19943064" cy="4069080"/>
            <a:chOff x="722376" y="722376"/>
            <a:chExt cx="19943064" cy="4069080"/>
          </a:xfrm>
        </p:grpSpPr>
        <p:sp>
          <p:nvSpPr>
            <p:cNvPr id="3" name="Band"/>
            <p:cNvSpPr/>
            <p:nvPr/>
          </p:nvSpPr>
          <p:spPr>
            <a:xfrm>
              <a:off x="722376" y="722376"/>
              <a:ext cx="19943064" cy="4069080"/>
            </a:xfrm>
            <a:prstGeom prst="roundRect">
              <a:avLst>
                <a:gd name="adj" fmla="val 5617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" name="Logo picture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76520" y="1097280"/>
              <a:ext cx="2377440" cy="2377440"/>
            </a:xfrm>
            <a:prstGeom prst="rect">
              <a:avLst/>
            </a:prstGeom>
          </p:spPr>
        </p:pic>
      </p:grpSp>
      <p:grpSp>
        <p:nvGrpSpPr>
          <p:cNvPr id="5" name="Title block"/>
          <p:cNvGrpSpPr/>
          <p:nvPr/>
        </p:nvGrpSpPr>
        <p:grpSpPr>
          <a:xfrm>
            <a:off x="1234440" y="850392"/>
            <a:ext cx="16276320" cy="3758184"/>
            <a:chOff x="1234440" y="850392"/>
            <a:chExt cx="16276320" cy="3758184"/>
          </a:xfrm>
        </p:grpSpPr>
        <p:sp>
          <p:nvSpPr>
            <p:cNvPr id="6" name="Eyebrow"/>
            <p:cNvSpPr txBox="1"/>
            <p:nvPr/>
          </p:nvSpPr>
          <p:spPr>
            <a:xfrm>
              <a:off x="1234440" y="850392"/>
              <a:ext cx="16276320" cy="39319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BSBS  •  SYSTEM DEVELOPMENT PROJECT</a:t>
              </a:r>
            </a:p>
          </p:txBody>
        </p:sp>
        <p:sp>
          <p:nvSpPr>
            <p:cNvPr id="7" name="Project title"/>
            <p:cNvSpPr txBox="1"/>
            <p:nvPr/>
          </p:nvSpPr>
          <p:spPr>
            <a:xfrm>
              <a:off x="1234440" y="1280160"/>
              <a:ext cx="162763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bg1"/>
                  </a:solidFill>
                  <a:latin typeface="+mj-lt"/>
                </a:rPr>
                <a:t>PROJECT TITLE</a:t>
              </a:r>
            </a:p>
          </p:txBody>
        </p:sp>
        <p:sp>
          <p:nvSpPr>
            <p:cNvPr id="8" name="Description"/>
            <p:cNvSpPr txBox="1"/>
            <p:nvPr/>
          </p:nvSpPr>
          <p:spPr>
            <a:xfrm>
              <a:off x="1234440" y="2587752"/>
              <a:ext cx="1627632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200" b="0" i="1">
                  <a:solidFill>
                    <a:schemeClr val="bg1">
                      <a:lumMod val="88000"/>
                    </a:schemeClr>
                  </a:solidFill>
                  <a:latin typeface="+mn-lt"/>
                </a:rPr>
                <a:t>[One-line description: what the artifact does and who it serves]</a:t>
              </a:r>
            </a:p>
          </p:txBody>
        </p:sp>
        <p:sp>
          <p:nvSpPr>
            <p:cNvPr id="9" name="Group members"/>
            <p:cNvSpPr txBox="1"/>
            <p:nvPr/>
          </p:nvSpPr>
          <p:spPr>
            <a:xfrm>
              <a:off x="1234440" y="3172968"/>
              <a:ext cx="162763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000" b="0" i="0">
                  <a:solidFill>
                    <a:schemeClr val="bg1"/>
                  </a:solidFill>
                  <a:latin typeface="+mn-lt"/>
                </a:rPr>
                <a:t>Group Members: Student 1  |  Student 2  |  Student 3  |  Student 4</a:t>
              </a:r>
            </a:p>
          </p:txBody>
        </p:sp>
        <p:sp>
          <p:nvSpPr>
            <p:cNvPr id="10" name="Institution"/>
            <p:cNvSpPr txBox="1"/>
            <p:nvPr/>
          </p:nvSpPr>
          <p:spPr>
            <a:xfrm>
              <a:off x="1234440" y="3703320"/>
              <a:ext cx="1627632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0" i="0">
                  <a:solidFill>
                    <a:schemeClr val="bg1">
                      <a:lumMod val="78000"/>
                    </a:schemeClr>
                  </a:solidFill>
                  <a:latin typeface="+mn-lt"/>
                </a:rPr>
                <a:t>Institution Name  •  [School / Department]  •  [Academic year]</a:t>
              </a:r>
            </a:p>
          </p:txBody>
        </p:sp>
        <p:sp>
          <p:nvSpPr>
            <p:cNvPr id="11" name="Project facts"/>
            <p:cNvSpPr txBox="1"/>
            <p:nvPr/>
          </p:nvSpPr>
          <p:spPr>
            <a:xfrm>
              <a:off x="1234440" y="4224528"/>
              <a:ext cx="16276320" cy="3840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1" i="0" spc="20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+mn-lt"/>
                </a:rPr>
                <a:t>TECH STACK  </a:t>
              </a:r>
              <a:r>
                <a:rPr sz="1800" b="0" i="0">
                  <a:solidFill>
                    <a:schemeClr val="bg1"/>
                  </a:solidFill>
                  <a:latin typeface="+mn-lt"/>
                </a:rPr>
                <a:t>[e.g. Flutter + Firebase]</a:t>
              </a:r>
              <a:r>
                <a:rPr sz="1800" b="0" i="0">
                  <a:solidFill>
                    <a:schemeClr val="bg1"/>
                  </a:solidFill>
                  <a:latin typeface="+mn-lt"/>
                </a:rPr>
                <a:t>      </a:t>
              </a:r>
              <a:r>
                <a:rPr sz="1500" b="1" i="0" spc="20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+mn-lt"/>
                </a:rPr>
                <a:t>DURATION  </a:t>
              </a:r>
              <a:r>
                <a:rPr sz="1800" b="0" i="0">
                  <a:solidFill>
                    <a:schemeClr val="bg1"/>
                  </a:solidFill>
                  <a:latin typeface="+mn-lt"/>
                </a:rPr>
                <a:t>[e.g. 12 weeks]</a:t>
              </a:r>
              <a:r>
                <a:rPr sz="1800" b="0" i="0">
                  <a:solidFill>
                    <a:schemeClr val="bg1"/>
                  </a:solidFill>
                  <a:latin typeface="+mn-lt"/>
                </a:rPr>
                <a:t>      </a:t>
              </a:r>
              <a:r>
                <a:rPr sz="1500" b="1" i="0" spc="20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+mn-lt"/>
                </a:rPr>
                <a:t>SUPERVISOR  </a:t>
              </a:r>
              <a:r>
                <a:rPr sz="1800" b="0" i="0">
                  <a:solidFill>
                    <a:schemeClr val="bg1"/>
                  </a:solidFill>
                  <a:latin typeface="+mn-lt"/>
                </a:rPr>
                <a:t>[Name]</a:t>
              </a:r>
            </a:p>
          </p:txBody>
        </p:sp>
      </p:grpSp>
      <p:grpSp>
        <p:nvGrpSpPr>
          <p:cNvPr id="12" name="Section 1 - Introduction &amp; Problem Statement"/>
          <p:cNvGrpSpPr/>
          <p:nvPr/>
        </p:nvGrpSpPr>
        <p:grpSpPr>
          <a:xfrm>
            <a:off x="722376" y="5166360"/>
            <a:ext cx="9683496" cy="4023360"/>
            <a:chOff x="722376" y="5166360"/>
            <a:chExt cx="9683496" cy="4023360"/>
          </a:xfrm>
        </p:grpSpPr>
        <p:sp>
          <p:nvSpPr>
            <p:cNvPr id="13" name="Card"/>
            <p:cNvSpPr/>
            <p:nvPr/>
          </p:nvSpPr>
          <p:spPr>
            <a:xfrm>
              <a:off x="722376" y="5166360"/>
              <a:ext cx="9683496" cy="4023360"/>
            </a:xfrm>
            <a:prstGeom prst="roundRect">
              <a:avLst>
                <a:gd name="adj" fmla="val 4090"/>
              </a:avLst>
            </a:prstGeom>
            <a:solidFill>
              <a:schemeClr val="bg1"/>
            </a:solidFill>
            <a:ln w="19050">
              <a:solidFill>
                <a:schemeClr val="accent1">
                  <a:lumMod val="45000"/>
                  <a:lumOff val="5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ading band"/>
            <p:cNvSpPr/>
            <p:nvPr/>
          </p:nvSpPr>
          <p:spPr>
            <a:xfrm>
              <a:off x="722376" y="5166360"/>
              <a:ext cx="9683496" cy="987552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Number badge"/>
            <p:cNvSpPr/>
            <p:nvPr/>
          </p:nvSpPr>
          <p:spPr>
            <a:xfrm>
              <a:off x="996696" y="5294376"/>
              <a:ext cx="731520" cy="7315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lIns="0" rIns="0" tIns="0" bIns="0" wrap="none"/>
            <a:lstStyle/>
            <a:p>
              <a:pPr algn="ctr"/>
              <a:r>
                <a:rPr sz="2400" b="1" i="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Heading"/>
            <p:cNvSpPr txBox="1"/>
            <p:nvPr/>
          </p:nvSpPr>
          <p:spPr>
            <a:xfrm>
              <a:off x="1929384" y="5166360"/>
              <a:ext cx="8202168" cy="9875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INTRODUCTION &amp; PROBLEM STATEMENT</a:t>
              </a:r>
            </a:p>
          </p:txBody>
        </p:sp>
        <p:sp>
          <p:nvSpPr>
            <p:cNvPr id="17" name="Introduction text"/>
            <p:cNvSpPr txBox="1"/>
            <p:nvPr/>
          </p:nvSpPr>
          <p:spPr>
            <a:xfrm>
              <a:off x="1078992" y="6428232"/>
              <a:ext cx="8970264" cy="2487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Background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Brief context of the problem domain.</a:t>
              </a:r>
            </a:p>
            <a:p>
              <a:pPr algn="l" marL="274320" indent="-274320">
                <a:spcAft>
                  <a:spcPts val="16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Who is affected and why a solution matters.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Problem Statement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Clearly explain the problem the artifact will solve.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Highlight why existing solutions fall short.</a:t>
              </a:r>
            </a:p>
          </p:txBody>
        </p:sp>
      </p:grpSp>
      <p:grpSp>
        <p:nvGrpSpPr>
          <p:cNvPr id="18" name="Section 3 - System Design"/>
          <p:cNvGrpSpPr/>
          <p:nvPr/>
        </p:nvGrpSpPr>
        <p:grpSpPr>
          <a:xfrm>
            <a:off x="722376" y="9464040"/>
            <a:ext cx="9683496" cy="14859000"/>
            <a:chOff x="722376" y="9464040"/>
            <a:chExt cx="9683496" cy="14859000"/>
          </a:xfrm>
        </p:grpSpPr>
        <p:sp>
          <p:nvSpPr>
            <p:cNvPr id="19" name="Card"/>
            <p:cNvSpPr/>
            <p:nvPr/>
          </p:nvSpPr>
          <p:spPr>
            <a:xfrm>
              <a:off x="722376" y="9464040"/>
              <a:ext cx="9683496" cy="14859000"/>
            </a:xfrm>
            <a:prstGeom prst="roundRect">
              <a:avLst>
                <a:gd name="adj" fmla="val 1699"/>
              </a:avLst>
            </a:prstGeom>
            <a:solidFill>
              <a:schemeClr val="bg1"/>
            </a:solidFill>
            <a:ln w="19050">
              <a:solidFill>
                <a:schemeClr val="accent3">
                  <a:lumMod val="45000"/>
                  <a:lumOff val="5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ading band"/>
            <p:cNvSpPr/>
            <p:nvPr/>
          </p:nvSpPr>
          <p:spPr>
            <a:xfrm>
              <a:off x="722376" y="9464040"/>
              <a:ext cx="9683496" cy="987552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Number badge"/>
            <p:cNvSpPr/>
            <p:nvPr/>
          </p:nvSpPr>
          <p:spPr>
            <a:xfrm>
              <a:off x="996696" y="959205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rtlCol="0" anchor="ctr" lIns="0" rIns="0" tIns="0" bIns="0" wrap="none"/>
            <a:lstStyle/>
            <a:p>
              <a:pPr algn="ctr"/>
              <a:r>
                <a:rPr sz="2400" b="1" i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22" name="Heading"/>
            <p:cNvSpPr txBox="1"/>
            <p:nvPr/>
          </p:nvSpPr>
          <p:spPr>
            <a:xfrm>
              <a:off x="1929384" y="9464040"/>
              <a:ext cx="8202168" cy="9875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SYSTEM DESIGN</a:t>
              </a:r>
            </a:p>
          </p:txBody>
        </p:sp>
        <p:sp>
          <p:nvSpPr>
            <p:cNvPr id="23" name="Design list 1"/>
            <p:cNvSpPr txBox="1"/>
            <p:nvPr/>
          </p:nvSpPr>
          <p:spPr>
            <a:xfrm>
              <a:off x="1078992" y="10725912"/>
              <a:ext cx="4302252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3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Functional and non-functional requirements.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3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System architecture and main components.</a:t>
              </a:r>
            </a:p>
            <a:p>
              <a:pPr algn="l" marL="274320" indent="-274320">
                <a:buClr>
                  <a:schemeClr val="accent3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Design models: use-case, class, ERD or wireframes.</a:t>
              </a:r>
            </a:p>
          </p:txBody>
        </p:sp>
        <p:sp>
          <p:nvSpPr>
            <p:cNvPr id="24" name="Design list 2"/>
            <p:cNvSpPr txBox="1"/>
            <p:nvPr/>
          </p:nvSpPr>
          <p:spPr>
            <a:xfrm>
              <a:off x="5747004" y="10725912"/>
              <a:ext cx="4302252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3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Tools, technologies and frameworks used.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3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Development approach (e.g. Agile, prototyping).</a:t>
              </a:r>
            </a:p>
            <a:p>
              <a:pPr algn="l" marL="274320" indent="-274320">
                <a:buClr>
                  <a:schemeClr val="accent3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Testing strategy (unit, integration, user).</a:t>
              </a:r>
            </a:p>
          </p:txBody>
        </p:sp>
        <p:sp>
          <p:nvSpPr>
            <p:cNvPr id="25" name="Design box 1"/>
            <p:cNvSpPr/>
            <p:nvPr/>
          </p:nvSpPr>
          <p:spPr>
            <a:xfrm>
              <a:off x="1078992" y="1299159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Users &amp;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Requirements</a:t>
              </a:r>
            </a:p>
          </p:txBody>
        </p:sp>
        <p:sp>
          <p:nvSpPr>
            <p:cNvPr id="26" name="Arrow 1"/>
            <p:cNvSpPr/>
            <p:nvPr/>
          </p:nvSpPr>
          <p:spPr>
            <a:xfrm>
              <a:off x="2969514" y="1348536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esign box 2"/>
            <p:cNvSpPr/>
            <p:nvPr/>
          </p:nvSpPr>
          <p:spPr>
            <a:xfrm>
              <a:off x="3481578" y="1299159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Interface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28" name="Arrow 2"/>
            <p:cNvSpPr/>
            <p:nvPr/>
          </p:nvSpPr>
          <p:spPr>
            <a:xfrm>
              <a:off x="5372100" y="1348536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esign box 3"/>
            <p:cNvSpPr/>
            <p:nvPr/>
          </p:nvSpPr>
          <p:spPr>
            <a:xfrm>
              <a:off x="5884164" y="1299159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accent4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Application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Logic / API</a:t>
              </a:r>
            </a:p>
          </p:txBody>
        </p:sp>
        <p:sp>
          <p:nvSpPr>
            <p:cNvPr id="30" name="Arrow 3"/>
            <p:cNvSpPr/>
            <p:nvPr/>
          </p:nvSpPr>
          <p:spPr>
            <a:xfrm>
              <a:off x="7774686" y="1348536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esign box 4"/>
            <p:cNvSpPr/>
            <p:nvPr/>
          </p:nvSpPr>
          <p:spPr>
            <a:xfrm>
              <a:off x="8286750" y="1299159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6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Data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32" name="Design caption"/>
            <p:cNvSpPr txBox="1"/>
            <p:nvPr/>
          </p:nvSpPr>
          <p:spPr>
            <a:xfrm>
              <a:off x="1078992" y="14436344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[High-level design — replace with your own architecture, UML model or wireframes]</a:t>
              </a:r>
            </a:p>
          </p:txBody>
        </p:sp>
        <p:pic>
          <p:nvPicPr>
            <p:cNvPr id="33" name="Architecture Diagram pictur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92" y="15076424"/>
              <a:ext cx="8970264" cy="3942080"/>
            </a:xfrm>
            <a:prstGeom prst="rect">
              <a:avLst/>
            </a:prstGeom>
          </p:spPr>
        </p:pic>
        <p:sp>
          <p:nvSpPr>
            <p:cNvPr id="34" name="Architecture Diagram caption"/>
            <p:cNvSpPr txBox="1"/>
            <p:nvPr/>
          </p:nvSpPr>
          <p:spPr>
            <a:xfrm>
              <a:off x="1078992" y="19091656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[System architecture]</a:t>
              </a:r>
            </a:p>
          </p:txBody>
        </p:sp>
        <p:pic>
          <p:nvPicPr>
            <p:cNvPr id="35" name="Erd / Uml / Wireframes picture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8992" y="19676872"/>
              <a:ext cx="8970264" cy="3942080"/>
            </a:xfrm>
            <a:prstGeom prst="rect">
              <a:avLst/>
            </a:prstGeom>
          </p:spPr>
        </p:pic>
        <p:sp>
          <p:nvSpPr>
            <p:cNvPr id="36" name="Erd / Uml / Wireframes caption"/>
            <p:cNvSpPr txBox="1"/>
            <p:nvPr/>
          </p:nvSpPr>
          <p:spPr>
            <a:xfrm>
              <a:off x="1078992" y="23692104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4. [Data, class or interface design]</a:t>
              </a:r>
            </a:p>
          </p:txBody>
        </p:sp>
      </p:grpSp>
      <p:grpSp>
        <p:nvGrpSpPr>
          <p:cNvPr id="37" name="Section 5 - Conclusion"/>
          <p:cNvGrpSpPr/>
          <p:nvPr/>
        </p:nvGrpSpPr>
        <p:grpSpPr>
          <a:xfrm>
            <a:off x="722376" y="24597360"/>
            <a:ext cx="9683496" cy="2743200"/>
            <a:chOff x="722376" y="24597360"/>
            <a:chExt cx="9683496" cy="2743200"/>
          </a:xfrm>
        </p:grpSpPr>
        <p:sp>
          <p:nvSpPr>
            <p:cNvPr id="38" name="Card"/>
            <p:cNvSpPr/>
            <p:nvPr/>
          </p:nvSpPr>
          <p:spPr>
            <a:xfrm>
              <a:off x="722376" y="24597360"/>
              <a:ext cx="9683496" cy="27432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45000"/>
                  <a:lumOff val="5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ading band"/>
            <p:cNvSpPr/>
            <p:nvPr/>
          </p:nvSpPr>
          <p:spPr>
            <a:xfrm>
              <a:off x="722376" y="24597360"/>
              <a:ext cx="9683496" cy="987552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Number badge"/>
            <p:cNvSpPr/>
            <p:nvPr/>
          </p:nvSpPr>
          <p:spPr>
            <a:xfrm>
              <a:off x="996696" y="24725376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 lIns="0" rIns="0" tIns="0" bIns="0" wrap="none"/>
            <a:lstStyle/>
            <a:p>
              <a:pPr algn="ctr"/>
              <a:r>
                <a:rPr sz="2400" b="1" i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41" name="Heading"/>
            <p:cNvSpPr txBox="1"/>
            <p:nvPr/>
          </p:nvSpPr>
          <p:spPr>
            <a:xfrm>
              <a:off x="1929384" y="24597360"/>
              <a:ext cx="8202168" cy="9875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CONCLUSION</a:t>
              </a:r>
            </a:p>
          </p:txBody>
        </p:sp>
        <p:sp>
          <p:nvSpPr>
            <p:cNvPr id="42" name="Conclusion text"/>
            <p:cNvSpPr txBox="1"/>
            <p:nvPr/>
          </p:nvSpPr>
          <p:spPr>
            <a:xfrm>
              <a:off x="1078992" y="25859232"/>
              <a:ext cx="8970264" cy="12070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5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Summarise the main findings.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5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State the artifact's contribution to theory and practice.</a:t>
              </a:r>
            </a:p>
            <a:p>
              <a:pPr algn="l" marL="274320" indent="-274320">
                <a:buClr>
                  <a:schemeClr val="accent5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Reflect on whether the design requirements were met.</a:t>
              </a:r>
            </a:p>
          </p:txBody>
        </p:sp>
      </p:grpSp>
      <p:grpSp>
        <p:nvGrpSpPr>
          <p:cNvPr id="43" name="Section 2 - Literature Review"/>
          <p:cNvGrpSpPr/>
          <p:nvPr/>
        </p:nvGrpSpPr>
        <p:grpSpPr>
          <a:xfrm>
            <a:off x="10981944" y="5166360"/>
            <a:ext cx="9683496" cy="9189720"/>
            <a:chOff x="10981944" y="5166360"/>
            <a:chExt cx="9683496" cy="9189720"/>
          </a:xfrm>
        </p:grpSpPr>
        <p:sp>
          <p:nvSpPr>
            <p:cNvPr id="44" name="Card"/>
            <p:cNvSpPr/>
            <p:nvPr/>
          </p:nvSpPr>
          <p:spPr>
            <a:xfrm>
              <a:off x="10981944" y="5166360"/>
              <a:ext cx="9683496" cy="9189720"/>
            </a:xfrm>
            <a:prstGeom prst="roundRect">
              <a:avLst>
                <a:gd name="adj" fmla="val 1791"/>
              </a:avLst>
            </a:prstGeom>
            <a:solidFill>
              <a:schemeClr val="bg1"/>
            </a:solidFill>
            <a:ln w="19050">
              <a:solidFill>
                <a:schemeClr val="accent2">
                  <a:lumMod val="45000"/>
                  <a:lumOff val="5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ading band"/>
            <p:cNvSpPr/>
            <p:nvPr/>
          </p:nvSpPr>
          <p:spPr>
            <a:xfrm>
              <a:off x="10981944" y="5166360"/>
              <a:ext cx="9683496" cy="987552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Number badge"/>
            <p:cNvSpPr/>
            <p:nvPr/>
          </p:nvSpPr>
          <p:spPr>
            <a:xfrm>
              <a:off x="11256264" y="5294376"/>
              <a:ext cx="731520" cy="731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lIns="0" rIns="0" tIns="0" bIns="0" wrap="none"/>
            <a:lstStyle/>
            <a:p>
              <a:pPr algn="ctr"/>
              <a:r>
                <a:rPr sz="2400" b="1" i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47" name="Heading"/>
            <p:cNvSpPr txBox="1"/>
            <p:nvPr/>
          </p:nvSpPr>
          <p:spPr>
            <a:xfrm>
              <a:off x="12188952" y="5166360"/>
              <a:ext cx="8202168" cy="9875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LITERATURE REVIEW</a:t>
              </a:r>
            </a:p>
          </p:txBody>
        </p:sp>
        <p:sp>
          <p:nvSpPr>
            <p:cNvPr id="48" name="Literature review text"/>
            <p:cNvSpPr txBox="1"/>
            <p:nvPr/>
          </p:nvSpPr>
          <p:spPr>
            <a:xfrm>
              <a:off x="11338560" y="6428232"/>
              <a:ext cx="8970264" cy="15849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2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Key concepts and theories behind the artifact.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2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Review of existing systems and related work.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2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Strengths and limitations of current approaches.</a:t>
              </a:r>
            </a:p>
            <a:p>
              <a:pPr algn="l" marL="274320" indent="-274320">
                <a:buClr>
                  <a:schemeClr val="accent2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The gap your artifact fills.</a:t>
              </a:r>
            </a:p>
          </p:txBody>
        </p:sp>
        <p:graphicFrame>
          <p:nvGraphicFramePr>
            <p:cNvPr id="49" name="Comparison table"/>
            <p:cNvGraphicFramePr>
              <a:graphicFrameLocks noGrp="1"/>
            </p:cNvGraphicFramePr>
            <p:nvPr/>
          </p:nvGraphicFramePr>
          <p:xfrm>
            <a:off x="11338560" y="8168640"/>
            <a:ext cx="8970264" cy="192024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3408700"/>
                  <a:gridCol w="2780782"/>
                  <a:gridCol w="2780782"/>
                </a:tblGrid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Existing work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Limitation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[System / App B]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Proposed artifact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[How it addresses the gap]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/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</a:tr>
              </a:tbl>
            </a:graphicData>
          </a:graphic>
        </p:graphicFrame>
        <p:pic>
          <p:nvPicPr>
            <p:cNvPr id="50" name="Framework picture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38560" y="10290048"/>
              <a:ext cx="8970264" cy="3361944"/>
            </a:xfrm>
            <a:prstGeom prst="rect">
              <a:avLst/>
            </a:prstGeom>
          </p:spPr>
        </p:pic>
        <p:sp>
          <p:nvSpPr>
            <p:cNvPr id="51" name="Framework caption"/>
            <p:cNvSpPr txBox="1"/>
            <p:nvPr/>
          </p:nvSpPr>
          <p:spPr>
            <a:xfrm>
              <a:off x="11338560" y="13725144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[Conceptual framework or theory behind the artifact]</a:t>
              </a:r>
            </a:p>
          </p:txBody>
        </p:sp>
      </p:grpSp>
      <p:grpSp>
        <p:nvGrpSpPr>
          <p:cNvPr id="52" name="Section 4 - Results &amp; Discussion"/>
          <p:cNvGrpSpPr/>
          <p:nvPr/>
        </p:nvGrpSpPr>
        <p:grpSpPr>
          <a:xfrm>
            <a:off x="10981944" y="14630400"/>
            <a:ext cx="9683496" cy="9692640"/>
            <a:chOff x="10981944" y="14630400"/>
            <a:chExt cx="9683496" cy="9692640"/>
          </a:xfrm>
        </p:grpSpPr>
        <p:sp>
          <p:nvSpPr>
            <p:cNvPr id="53" name="Card"/>
            <p:cNvSpPr/>
            <p:nvPr/>
          </p:nvSpPr>
          <p:spPr>
            <a:xfrm>
              <a:off x="10981944" y="14630400"/>
              <a:ext cx="9683496" cy="9692640"/>
            </a:xfrm>
            <a:prstGeom prst="roundRect">
              <a:avLst>
                <a:gd name="adj" fmla="val 1699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45000"/>
                  <a:lumOff val="5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ading band"/>
            <p:cNvSpPr/>
            <p:nvPr/>
          </p:nvSpPr>
          <p:spPr>
            <a:xfrm>
              <a:off x="10981944" y="14630400"/>
              <a:ext cx="9683496" cy="987552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Number badge"/>
            <p:cNvSpPr/>
            <p:nvPr/>
          </p:nvSpPr>
          <p:spPr>
            <a:xfrm>
              <a:off x="11256264" y="14758416"/>
              <a:ext cx="731520" cy="7315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 lIns="0" rIns="0" tIns="0" bIns="0" wrap="none"/>
            <a:lstStyle/>
            <a:p>
              <a:pPr algn="ctr"/>
              <a:r>
                <a:rPr sz="2400" b="1" i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56" name="Heading"/>
            <p:cNvSpPr txBox="1"/>
            <p:nvPr/>
          </p:nvSpPr>
          <p:spPr>
            <a:xfrm>
              <a:off x="12188952" y="14630400"/>
              <a:ext cx="8202168" cy="9875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RESULTS &amp; DISCUSSION</a:t>
              </a:r>
            </a:p>
          </p:txBody>
        </p:sp>
        <p:sp>
          <p:nvSpPr>
            <p:cNvPr id="57" name="Results text"/>
            <p:cNvSpPr txBox="1"/>
            <p:nvPr/>
          </p:nvSpPr>
          <p:spPr>
            <a:xfrm>
              <a:off x="11338560" y="15892272"/>
              <a:ext cx="8970264" cy="1168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4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Demonstrate the working artifact (screenshots, demo link).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4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Report evaluation results against the requirements.</a:t>
              </a:r>
            </a:p>
            <a:p>
              <a:pPr algn="l" marL="274320" indent="-274320">
                <a:buClr>
                  <a:schemeClr val="accent4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Discuss how the artifact solves the stated problem.</a:t>
              </a:r>
            </a:p>
          </p:txBody>
        </p:sp>
        <p:pic>
          <p:nvPicPr>
            <p:cNvPr id="58" name="Artifact screenshot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38560" y="17243552"/>
              <a:ext cx="8970264" cy="4546600"/>
            </a:xfrm>
            <a:prstGeom prst="rect">
              <a:avLst/>
            </a:prstGeom>
          </p:spPr>
        </p:pic>
        <p:sp>
          <p:nvSpPr>
            <p:cNvPr id="59" name="Screenshot caption"/>
            <p:cNvSpPr txBox="1"/>
            <p:nvPr/>
          </p:nvSpPr>
          <p:spPr>
            <a:xfrm>
              <a:off x="11338560" y="21863304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5. [The working artifact in use]</a:t>
              </a:r>
            </a:p>
          </p:txBody>
        </p:sp>
        <p:graphicFrame>
          <p:nvGraphicFramePr>
            <p:cNvPr id="60" name="Evaluation table"/>
            <p:cNvGraphicFramePr>
              <a:graphicFrameLocks noGrp="1"/>
            </p:cNvGraphicFramePr>
            <p:nvPr/>
          </p:nvGraphicFramePr>
          <p:xfrm>
            <a:off x="11338560" y="22402800"/>
            <a:ext cx="8970263" cy="164592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2691079"/>
                  <a:gridCol w="3408700"/>
                  <a:gridCol w="1435242"/>
                  <a:gridCol w="1435242"/>
                </a:tblGrid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Evaluation criterion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Method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Target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Result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Functionality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Test cases passed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Usability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User testing / SUS survey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Performance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Response time, accuracy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61" name="Section 6 - Recommendations &amp; Future Work"/>
          <p:cNvGrpSpPr/>
          <p:nvPr/>
        </p:nvGrpSpPr>
        <p:grpSpPr>
          <a:xfrm>
            <a:off x="10981944" y="24597360"/>
            <a:ext cx="9683496" cy="2743200"/>
            <a:chOff x="10981944" y="24597360"/>
            <a:chExt cx="9683496" cy="2743200"/>
          </a:xfrm>
        </p:grpSpPr>
        <p:sp>
          <p:nvSpPr>
            <p:cNvPr id="62" name="Card"/>
            <p:cNvSpPr/>
            <p:nvPr/>
          </p:nvSpPr>
          <p:spPr>
            <a:xfrm>
              <a:off x="10981944" y="24597360"/>
              <a:ext cx="9683496" cy="27432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 w="19050">
              <a:solidFill>
                <a:schemeClr val="accent6">
                  <a:lumMod val="45000"/>
                  <a:lumOff val="5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Heading band"/>
            <p:cNvSpPr/>
            <p:nvPr/>
          </p:nvSpPr>
          <p:spPr>
            <a:xfrm>
              <a:off x="10981944" y="24597360"/>
              <a:ext cx="9683496" cy="987552"/>
            </a:xfrm>
            <a:prstGeom prst="round2SameRect">
              <a:avLst>
                <a:gd name="adj1" fmla="val 16666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Number badge"/>
            <p:cNvSpPr/>
            <p:nvPr/>
          </p:nvSpPr>
          <p:spPr>
            <a:xfrm>
              <a:off x="11256264" y="24725376"/>
              <a:ext cx="731520" cy="7315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rtlCol="0" anchor="ctr" lIns="0" rIns="0" tIns="0" bIns="0" wrap="none"/>
            <a:lstStyle/>
            <a:p>
              <a:pPr algn="ctr"/>
              <a:r>
                <a:rPr sz="2400" b="1" i="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65" name="Heading"/>
            <p:cNvSpPr txBox="1"/>
            <p:nvPr/>
          </p:nvSpPr>
          <p:spPr>
            <a:xfrm>
              <a:off x="12188952" y="24597360"/>
              <a:ext cx="8202168" cy="9875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RECOMMENDATIONS &amp; FUTURE WORK</a:t>
              </a:r>
            </a:p>
          </p:txBody>
        </p:sp>
        <p:sp>
          <p:nvSpPr>
            <p:cNvPr id="66" name="Recommendations text"/>
            <p:cNvSpPr txBox="1"/>
            <p:nvPr/>
          </p:nvSpPr>
          <p:spPr>
            <a:xfrm>
              <a:off x="11338560" y="25859232"/>
              <a:ext cx="8970264" cy="12070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6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Recommendations for users, organisations or adopters.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6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Limitations of the artifact and of the evaluation.</a:t>
              </a:r>
            </a:p>
            <a:p>
              <a:pPr algn="l" marL="274320" indent="-274320">
                <a:buClr>
                  <a:schemeClr val="accent6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Planned improvements, new features or extensions.</a:t>
              </a:r>
            </a:p>
          </p:txBody>
        </p:sp>
      </p:grpSp>
      <p:grpSp>
        <p:nvGrpSpPr>
          <p:cNvPr id="67" name="References and QR codes"/>
          <p:cNvGrpSpPr/>
          <p:nvPr/>
        </p:nvGrpSpPr>
        <p:grpSpPr>
          <a:xfrm>
            <a:off x="722376" y="27715464"/>
            <a:ext cx="19943064" cy="1837944"/>
            <a:chOff x="722376" y="27715464"/>
            <a:chExt cx="19943064" cy="1837944"/>
          </a:xfrm>
        </p:grpSpPr>
        <p:sp>
          <p:nvSpPr>
            <p:cNvPr id="68" name="Panel"/>
            <p:cNvSpPr/>
            <p:nvPr/>
          </p:nvSpPr>
          <p:spPr>
            <a:xfrm>
              <a:off x="722376" y="27715464"/>
              <a:ext cx="19943064" cy="1837944"/>
            </a:xfrm>
            <a:prstGeom prst="roundRect">
              <a:avLst>
                <a:gd name="adj" fmla="val 8955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ferences label"/>
            <p:cNvSpPr txBox="1"/>
            <p:nvPr/>
          </p:nvSpPr>
          <p:spPr>
            <a:xfrm>
              <a:off x="1152144" y="27953208"/>
              <a:ext cx="1546250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6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REFERENCES</a:t>
              </a:r>
            </a:p>
          </p:txBody>
        </p:sp>
        <p:sp>
          <p:nvSpPr>
            <p:cNvPr id="70" name="References list"/>
            <p:cNvSpPr txBox="1"/>
            <p:nvPr/>
          </p:nvSpPr>
          <p:spPr>
            <a:xfrm>
              <a:off x="1152144" y="28373832"/>
              <a:ext cx="15462504" cy="10149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List key references used in the study (e.g. APA 7th style), including every source cited in the literature review.</a:t>
              </a:r>
            </a:p>
          </p:txBody>
        </p:sp>
        <p:pic>
          <p:nvPicPr>
            <p:cNvPr id="71" name="Code QR picture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854928" y="27880056"/>
              <a:ext cx="1508760" cy="1508760"/>
            </a:xfrm>
            <a:prstGeom prst="rect">
              <a:avLst/>
            </a:prstGeom>
          </p:spPr>
        </p:pic>
        <p:pic>
          <p:nvPicPr>
            <p:cNvPr id="72" name="Demo QR picture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888968" y="27880056"/>
              <a:ext cx="1508760" cy="15087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uide title"/>
          <p:cNvGrpSpPr/>
          <p:nvPr/>
        </p:nvGrpSpPr>
        <p:grpSpPr>
          <a:xfrm>
            <a:off x="722376" y="722376"/>
            <a:ext cx="19939248" cy="3236976"/>
            <a:chOff x="722376" y="722376"/>
            <a:chExt cx="19939248" cy="3236976"/>
          </a:xfrm>
        </p:grpSpPr>
        <p:sp>
          <p:nvSpPr>
            <p:cNvPr id="3" name="Panel"/>
            <p:cNvSpPr/>
            <p:nvPr/>
          </p:nvSpPr>
          <p:spPr>
            <a:xfrm>
              <a:off x="722376" y="722376"/>
              <a:ext cx="19939248" cy="3236976"/>
            </a:xfrm>
            <a:prstGeom prst="roundRect">
              <a:avLst>
                <a:gd name="adj" fmla="val 5084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itle"/>
            <p:cNvSpPr txBox="1"/>
            <p:nvPr/>
          </p:nvSpPr>
          <p:spPr>
            <a:xfrm>
              <a:off x="1271016" y="1179576"/>
              <a:ext cx="18841968" cy="10972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bg1"/>
                  </a:solidFill>
                  <a:latin typeface="+mj-lt"/>
                </a:rPr>
                <a:t>A1 POSTER LAYOUT, CUSTOMISING &amp; PRINTING GUIDE</a:t>
              </a:r>
            </a:p>
          </p:txBody>
        </p:sp>
        <p:sp>
          <p:nvSpPr>
            <p:cNvPr id="5" name="Subtitle"/>
            <p:cNvSpPr txBox="1"/>
            <p:nvPr/>
          </p:nvSpPr>
          <p:spPr>
            <a:xfrm>
              <a:off x="1271016" y="2505456"/>
              <a:ext cx="18841968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800" b="0" i="0">
                  <a:solidFill>
                    <a:schemeClr val="bg1">
                      <a:lumMod val="88000"/>
                    </a:schemeClr>
                  </a:solidFill>
                  <a:latin typeface="+mn-lt"/>
                </a:rPr>
                <a:t>Poster D – Colour Coded.  Remove this instruction slide before submitting or printing the poster.</a:t>
              </a:r>
            </a:p>
          </p:txBody>
        </p:sp>
      </p:grpSp>
      <p:grpSp>
        <p:nvGrpSpPr>
          <p:cNvPr id="6" name="Guide - Poster Specifications"/>
          <p:cNvGrpSpPr/>
          <p:nvPr/>
        </p:nvGrpSpPr>
        <p:grpSpPr>
          <a:xfrm>
            <a:off x="722376" y="4416552"/>
            <a:ext cx="19939248" cy="4706369"/>
            <a:chOff x="722376" y="4416552"/>
            <a:chExt cx="19939248" cy="4706369"/>
          </a:xfrm>
        </p:grpSpPr>
        <p:sp>
          <p:nvSpPr>
            <p:cNvPr id="7" name="Card"/>
            <p:cNvSpPr/>
            <p:nvPr/>
          </p:nvSpPr>
          <p:spPr>
            <a:xfrm>
              <a:off x="722376" y="4416552"/>
              <a:ext cx="19939248" cy="4706369"/>
            </a:xfrm>
            <a:prstGeom prst="roundRect">
              <a:avLst>
                <a:gd name="adj" fmla="val 349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ading"/>
            <p:cNvSpPr txBox="1"/>
            <p:nvPr/>
          </p:nvSpPr>
          <p:spPr>
            <a:xfrm>
              <a:off x="1271016" y="4828032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POSTER SPECIFICATIONS</a:t>
              </a:r>
            </a:p>
          </p:txBody>
        </p:sp>
        <p:sp>
          <p:nvSpPr>
            <p:cNvPr id="9" name="Items"/>
            <p:cNvSpPr txBox="1"/>
            <p:nvPr/>
          </p:nvSpPr>
          <p:spPr>
            <a:xfrm>
              <a:off x="1271016" y="5879592"/>
              <a:ext cx="18841968" cy="296900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Size: A1 portrait, 59.4 cm × 84.1 cm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Outer margins: 2 cm on all four sides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Two columns: 26.9 cm each with 1.6 cm spacing; each section has its own theme accent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Six sections: Introduction &amp; Problem Statement, Literature Review, System Design, Results &amp; Discussion, Conclusion, Recommendations &amp; Future Work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Create all content at the final poster size</a:t>
              </a:r>
            </a:p>
          </p:txBody>
        </p:sp>
      </p:grpSp>
      <p:grpSp>
        <p:nvGrpSpPr>
          <p:cNvPr id="10" name="Guide - Customise Colours, Fonts And Layout"/>
          <p:cNvGrpSpPr/>
          <p:nvPr/>
        </p:nvGrpSpPr>
        <p:grpSpPr>
          <a:xfrm>
            <a:off x="722376" y="9488681"/>
            <a:ext cx="19939248" cy="6469480"/>
            <a:chOff x="722376" y="9488681"/>
            <a:chExt cx="19939248" cy="6469480"/>
          </a:xfrm>
        </p:grpSpPr>
        <p:sp>
          <p:nvSpPr>
            <p:cNvPr id="11" name="Card"/>
            <p:cNvSpPr/>
            <p:nvPr/>
          </p:nvSpPr>
          <p:spPr>
            <a:xfrm>
              <a:off x="722376" y="9488681"/>
              <a:ext cx="19939248" cy="6469480"/>
            </a:xfrm>
            <a:prstGeom prst="roundRect">
              <a:avLst>
                <a:gd name="adj" fmla="val 254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ading"/>
            <p:cNvSpPr txBox="1"/>
            <p:nvPr/>
          </p:nvSpPr>
          <p:spPr>
            <a:xfrm>
              <a:off x="1271016" y="9900161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CUSTOMISE COLOURS, FONTS AND LAYOUT</a:t>
              </a:r>
            </a:p>
          </p:txBody>
        </p:sp>
        <p:sp>
          <p:nvSpPr>
            <p:cNvPr id="13" name="Items"/>
            <p:cNvSpPr txBox="1"/>
            <p:nvPr/>
          </p:nvSpPr>
          <p:spPr>
            <a:xfrm>
              <a:off x="1271016" y="10951721"/>
              <a:ext cx="18841968" cy="47321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Colours: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Colors. Pick a palette or choose Customize Colors. Every shape uses theme colours, so the whole poster changes at once.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Fonts: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Fonts.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Move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each section is one group. Click its edge and drag it; sections in the same column share a width, so they swap cleanly.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Edit inside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click the group, then click the item. To resize parts, right-click › Group › Ungroup, then regroup (Ctrl/Cmd + G).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Find, hide or reorder sections: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Home › Arrange › Selection Pane.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Pictures: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right-click a placeholder › Change Picture. Use Crop › Fill if the image looks stretched.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Design diagram: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the System Design boxes are ordinary shapes — retype, recolour, add or delete them.</a:t>
              </a:r>
            </a:p>
          </p:txBody>
        </p:sp>
      </p:grpSp>
      <p:grpSp>
        <p:nvGrpSpPr>
          <p:cNvPr id="14" name="Guide - Recommended Font Sizes"/>
          <p:cNvGrpSpPr/>
          <p:nvPr/>
        </p:nvGrpSpPr>
        <p:grpSpPr>
          <a:xfrm>
            <a:off x="722376" y="16323921"/>
            <a:ext cx="19939248" cy="3824814"/>
            <a:chOff x="722376" y="16323921"/>
            <a:chExt cx="19939248" cy="3824814"/>
          </a:xfrm>
        </p:grpSpPr>
        <p:sp>
          <p:nvSpPr>
            <p:cNvPr id="15" name="Card"/>
            <p:cNvSpPr/>
            <p:nvPr/>
          </p:nvSpPr>
          <p:spPr>
            <a:xfrm>
              <a:off x="722376" y="16323921"/>
              <a:ext cx="19939248" cy="3824814"/>
            </a:xfrm>
            <a:prstGeom prst="roundRect">
              <a:avLst>
                <a:gd name="adj" fmla="val 430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ading"/>
            <p:cNvSpPr txBox="1"/>
            <p:nvPr/>
          </p:nvSpPr>
          <p:spPr>
            <a:xfrm>
              <a:off x="1271016" y="16735401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RECOMMENDED FONT SIZES</a:t>
              </a:r>
            </a:p>
          </p:txBody>
        </p:sp>
        <p:sp>
          <p:nvSpPr>
            <p:cNvPr id="17" name="Items"/>
            <p:cNvSpPr txBox="1"/>
            <p:nvPr/>
          </p:nvSpPr>
          <p:spPr>
            <a:xfrm>
              <a:off x="1271016" y="17786961"/>
              <a:ext cx="18841968" cy="208745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Title: 48–54 pt  |  Section headings: 26–28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Group members: 20–24 pt  |  Body: 18–20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Captions &amp; tables: 14–16 pt  |  References: 12–14 pt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Screenshots: crop to the relevant screen area so interface text stays readable at 1.5 m</a:t>
              </a:r>
            </a:p>
          </p:txBody>
        </p:sp>
      </p:grpSp>
      <p:grpSp>
        <p:nvGrpSpPr>
          <p:cNvPr id="18" name="Guide - Content Checks"/>
          <p:cNvGrpSpPr/>
          <p:nvPr/>
        </p:nvGrpSpPr>
        <p:grpSpPr>
          <a:xfrm>
            <a:off x="722376" y="20514495"/>
            <a:ext cx="19939248" cy="4848556"/>
            <a:chOff x="722376" y="20514495"/>
            <a:chExt cx="19939248" cy="4848556"/>
          </a:xfrm>
        </p:grpSpPr>
        <p:sp>
          <p:nvSpPr>
            <p:cNvPr id="19" name="Card"/>
            <p:cNvSpPr/>
            <p:nvPr/>
          </p:nvSpPr>
          <p:spPr>
            <a:xfrm>
              <a:off x="722376" y="20514495"/>
              <a:ext cx="19939248" cy="4848556"/>
            </a:xfrm>
            <a:prstGeom prst="roundRect">
              <a:avLst>
                <a:gd name="adj" fmla="val 339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1271016" y="20925975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CONTENT CHECKS</a:t>
              </a:r>
            </a:p>
          </p:txBody>
        </p:sp>
        <p:sp>
          <p:nvSpPr>
            <p:cNvPr id="21" name="Items"/>
            <p:cNvSpPr txBox="1"/>
            <p:nvPr/>
          </p:nvSpPr>
          <p:spPr>
            <a:xfrm>
              <a:off x="1271016" y="21977535"/>
              <a:ext cx="18841968" cy="31111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Every requirement in System Design should be evaluated in Results &amp; Discussion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Literature review: compare at least three existing works and state the gap your artifact fills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Cite every source from the literature review in the References band (APA 7th)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Use real diagrams (architecture, UML, ERD or wireframes) exported at high resolution (≥ 300 dpi)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Replace every [ ] in the evaluation table with your actual results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Point the QR codes to a working demo video, live system or code repository</a:t>
              </a:r>
            </a:p>
          </p:txBody>
        </p:sp>
      </p:grpSp>
      <p:grpSp>
        <p:nvGrpSpPr>
          <p:cNvPr id="22" name="Guide - Powerpoint &amp; Printing Checks"/>
          <p:cNvGrpSpPr/>
          <p:nvPr/>
        </p:nvGrpSpPr>
        <p:grpSpPr>
          <a:xfrm>
            <a:off x="722376" y="25728810"/>
            <a:ext cx="19939248" cy="3824814"/>
            <a:chOff x="722376" y="25728810"/>
            <a:chExt cx="19939248" cy="3824814"/>
          </a:xfrm>
        </p:grpSpPr>
        <p:sp>
          <p:nvSpPr>
            <p:cNvPr id="23" name="Card"/>
            <p:cNvSpPr/>
            <p:nvPr/>
          </p:nvSpPr>
          <p:spPr>
            <a:xfrm>
              <a:off x="722376" y="25728810"/>
              <a:ext cx="19939248" cy="3824814"/>
            </a:xfrm>
            <a:prstGeom prst="roundRect">
              <a:avLst>
                <a:gd name="adj" fmla="val 430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ading"/>
            <p:cNvSpPr txBox="1"/>
            <p:nvPr/>
          </p:nvSpPr>
          <p:spPr>
            <a:xfrm>
              <a:off x="1271016" y="26140290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POWERPOINT &amp; PRINTING CHECKS</a:t>
              </a:r>
            </a:p>
          </p:txBody>
        </p:sp>
        <p:sp>
          <p:nvSpPr>
            <p:cNvPr id="25" name="Items"/>
            <p:cNvSpPr txBox="1"/>
            <p:nvPr/>
          </p:nvSpPr>
          <p:spPr>
            <a:xfrm>
              <a:off x="1271016" y="27191850"/>
              <a:ext cx="18841968" cy="208745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View › Guides: margin and column guides are already set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Keep all content within the poster boundaries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Export to PDF and verify dimensions before printing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Print at 100% / actual size, not Fit to Page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oster D – Colour Coded">
  <a:themeElements>
    <a:clrScheme name="Poster D – Colour Coded">
      <a:dk1>
        <a:srgbClr val="1D2433"/>
      </a:dk1>
      <a:lt1>
        <a:srgbClr val="FFFFFF"/>
      </a:lt1>
      <a:dk2>
        <a:srgbClr val="1E2761"/>
      </a:dk2>
      <a:lt2>
        <a:srgbClr val="F4F5FA"/>
      </a:lt2>
      <a:accent1>
        <a:srgbClr val="3B5BDB"/>
      </a:accent1>
      <a:accent2>
        <a:srgbClr val="2B8A3E"/>
      </a:accent2>
      <a:accent3>
        <a:srgbClr val="D9480F"/>
      </a:accent3>
      <a:accent4>
        <a:srgbClr val="7048E8"/>
      </a:accent4>
      <a:accent5>
        <a:srgbClr val="C2255C"/>
      </a:accent5>
      <a:accent6>
        <a:srgbClr val="0B7285"/>
      </a:accent6>
      <a:hlink>
        <a:srgbClr val="3B5BDB"/>
      </a:hlink>
      <a:folHlink>
        <a:srgbClr val="5C677D"/>
      </a:folHlink>
    </a:clrScheme>
    <a:fontScheme name="Poster D – Colour Code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Custom</PresentationFormat>
  <Paragraphs>129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SysDev Showcase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Dr. Tshepiso Larona Mokgetse</cp:lastModifiedBy>
  <cp:revision>1</cp:revision>
  <dcterms:created xsi:type="dcterms:W3CDTF">2026-10-12T06:40:15Z</dcterms:created>
  <dcterms:modified xsi:type="dcterms:W3CDTF">2026-10-12T06:42:11Z</dcterms:modified>
</cp:coreProperties>
</file>