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</p:sldIdLst>
  <p:sldSz cx="21384000" cy="30276000"/>
  <p:notesSz cx="30275213" cy="213836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0" d="100"/>
          <a:sy n="30" d="100"/>
        </p:scale>
        <p:origin x="512" y="20"/>
      </p:cViewPr>
      <p:guideLst>
        <p:guide orient="horz" pos="455"/>
        <p:guide orient="horz" pos="18616"/>
        <p:guide orient="vert" pos="455"/>
        <p:guide orient="vert" pos="13015"/>
        <p:guide orient="vert" pos="6555"/>
        <p:guide orient="vert" pos="69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19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Title block"/>
          <p:cNvGrpSpPr/>
          <p:nvPr/>
        </p:nvGrpSpPr>
        <p:grpSpPr>
          <a:xfrm>
            <a:off x="722376" y="795528"/>
            <a:ext cx="13322808" cy="3264408"/>
            <a:chOff x="722376" y="795528"/>
            <a:chExt cx="13322808" cy="3264408"/>
          </a:xfrm>
        </p:grpSpPr>
        <p:sp>
          <p:nvSpPr>
            <p:cNvPr id="3" name="Eyebrow"/>
            <p:cNvSpPr txBox="1"/>
            <p:nvPr/>
          </p:nvSpPr>
          <p:spPr>
            <a:xfrm>
              <a:off x="722376" y="795528"/>
              <a:ext cx="13322808" cy="39319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700" b="1" i="0" spc="300">
                  <a:solidFill>
                    <a:schemeClr val="accent1"/>
                  </a:solidFill>
                  <a:latin typeface="+mn-lt"/>
                </a:rPr>
                <a:t>BSBS  •  SYSTEM DEVELOPMENT PROJECT</a:t>
              </a:r>
            </a:p>
          </p:txBody>
        </p:sp>
        <p:sp>
          <p:nvSpPr>
            <p:cNvPr id="4" name="Project title"/>
            <p:cNvSpPr txBox="1"/>
            <p:nvPr/>
          </p:nvSpPr>
          <p:spPr>
            <a:xfrm>
              <a:off x="722376" y="1225296"/>
              <a:ext cx="13322808" cy="11887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5400" b="1" i="0">
                  <a:solidFill>
                    <a:schemeClr val="tx1"/>
                  </a:solidFill>
                  <a:latin typeface="+mj-lt"/>
                </a:rPr>
                <a:t>PROJECT TITLE</a:t>
              </a:r>
            </a:p>
          </p:txBody>
        </p:sp>
        <p:sp>
          <p:nvSpPr>
            <p:cNvPr id="5" name="Description"/>
            <p:cNvSpPr txBox="1"/>
            <p:nvPr/>
          </p:nvSpPr>
          <p:spPr>
            <a:xfrm>
              <a:off x="722376" y="2532888"/>
              <a:ext cx="13322808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2200" b="0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</a:rPr>
                <a:t>[One-line description: what the artifact does and who it serves]</a:t>
              </a:r>
            </a:p>
          </p:txBody>
        </p:sp>
        <p:sp>
          <p:nvSpPr>
            <p:cNvPr id="6" name="Group members"/>
            <p:cNvSpPr txBox="1"/>
            <p:nvPr/>
          </p:nvSpPr>
          <p:spPr>
            <a:xfrm>
              <a:off x="722376" y="3118104"/>
              <a:ext cx="13322808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2000" b="0" i="0">
                  <a:solidFill>
                    <a:schemeClr val="tx1"/>
                  </a:solidFill>
                  <a:latin typeface="+mn-lt"/>
                </a:rPr>
                <a:t>Group Members: Student 1  |  Student 2  |  Student 3  |  Student 4</a:t>
              </a:r>
            </a:p>
          </p:txBody>
        </p:sp>
        <p:sp>
          <p:nvSpPr>
            <p:cNvPr id="7" name="Institution"/>
            <p:cNvSpPr txBox="1"/>
            <p:nvPr/>
          </p:nvSpPr>
          <p:spPr>
            <a:xfrm>
              <a:off x="722376" y="3648456"/>
              <a:ext cx="13322808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700" b="0" i="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Institution Name  •  [School / Department]  •  [Academic year]</a:t>
              </a:r>
            </a:p>
          </p:txBody>
        </p:sp>
      </p:grpSp>
      <p:grpSp>
        <p:nvGrpSpPr>
          <p:cNvPr id="8" name="Project facts"/>
          <p:cNvGrpSpPr/>
          <p:nvPr/>
        </p:nvGrpSpPr>
        <p:grpSpPr>
          <a:xfrm>
            <a:off x="14548104" y="722376"/>
            <a:ext cx="6117336" cy="3739896"/>
            <a:chOff x="14548104" y="722376"/>
            <a:chExt cx="6117336" cy="3739896"/>
          </a:xfrm>
        </p:grpSpPr>
        <p:sp>
          <p:nvSpPr>
            <p:cNvPr id="9" name="Panel"/>
            <p:cNvSpPr/>
            <p:nvPr/>
          </p:nvSpPr>
          <p:spPr>
            <a:xfrm>
              <a:off x="14548104" y="722376"/>
              <a:ext cx="6117336" cy="3739896"/>
            </a:xfrm>
            <a:prstGeom prst="roundRect">
              <a:avLst>
                <a:gd name="adj" fmla="val 44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0" name="Logo picture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44616" y="1005840"/>
              <a:ext cx="1655064" cy="1655064"/>
            </a:xfrm>
            <a:prstGeom prst="rect">
              <a:avLst/>
            </a:prstGeom>
          </p:spPr>
        </p:pic>
        <p:sp>
          <p:nvSpPr>
            <p:cNvPr id="11" name="Tech Stack label"/>
            <p:cNvSpPr txBox="1"/>
            <p:nvPr/>
          </p:nvSpPr>
          <p:spPr>
            <a:xfrm>
              <a:off x="14977872" y="996696"/>
              <a:ext cx="3300984" cy="3291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TECH STACK</a:t>
              </a:r>
            </a:p>
          </p:txBody>
        </p:sp>
        <p:sp>
          <p:nvSpPr>
            <p:cNvPr id="12" name="Tech Stack value"/>
            <p:cNvSpPr txBox="1"/>
            <p:nvPr/>
          </p:nvSpPr>
          <p:spPr>
            <a:xfrm>
              <a:off x="14977872" y="1344168"/>
              <a:ext cx="3300984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900" b="0" i="0">
                  <a:solidFill>
                    <a:schemeClr val="bg1"/>
                  </a:solidFill>
                  <a:latin typeface="+mn-lt"/>
                </a:rPr>
                <a:t>[e.g. Flutter + Firebase]</a:t>
              </a:r>
            </a:p>
          </p:txBody>
        </p:sp>
        <p:sp>
          <p:nvSpPr>
            <p:cNvPr id="13" name="Duration label"/>
            <p:cNvSpPr txBox="1"/>
            <p:nvPr/>
          </p:nvSpPr>
          <p:spPr>
            <a:xfrm>
              <a:off x="14977872" y="2090928"/>
              <a:ext cx="3300984" cy="3291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DURATION</a:t>
              </a:r>
            </a:p>
          </p:txBody>
        </p:sp>
        <p:sp>
          <p:nvSpPr>
            <p:cNvPr id="14" name="Duration value"/>
            <p:cNvSpPr txBox="1"/>
            <p:nvPr/>
          </p:nvSpPr>
          <p:spPr>
            <a:xfrm>
              <a:off x="14977872" y="2438400"/>
              <a:ext cx="3300984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900" b="0" i="0">
                  <a:solidFill>
                    <a:schemeClr val="bg1"/>
                  </a:solidFill>
                  <a:latin typeface="+mn-lt"/>
                </a:rPr>
                <a:t>[e.g. 12 weeks]</a:t>
              </a:r>
            </a:p>
          </p:txBody>
        </p:sp>
        <p:sp>
          <p:nvSpPr>
            <p:cNvPr id="15" name="Supervisor label"/>
            <p:cNvSpPr txBox="1"/>
            <p:nvPr/>
          </p:nvSpPr>
          <p:spPr>
            <a:xfrm>
              <a:off x="14977872" y="3185160"/>
              <a:ext cx="3300984" cy="3291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SUPERVISOR</a:t>
              </a:r>
            </a:p>
          </p:txBody>
        </p:sp>
        <p:sp>
          <p:nvSpPr>
            <p:cNvPr id="16" name="Supervisor value"/>
            <p:cNvSpPr txBox="1"/>
            <p:nvPr/>
          </p:nvSpPr>
          <p:spPr>
            <a:xfrm>
              <a:off x="14977872" y="3532632"/>
              <a:ext cx="3300984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900" b="0" i="0">
                  <a:solidFill>
                    <a:schemeClr val="bg1"/>
                  </a:solidFill>
                  <a:latin typeface="+mn-lt"/>
                </a:rPr>
                <a:t>[Name]</a:t>
              </a:r>
            </a:p>
          </p:txBody>
        </p:sp>
      </p:grpSp>
      <p:grpSp>
        <p:nvGrpSpPr>
          <p:cNvPr id="17" name="Section 1 - Introduction &amp; Problem Statement"/>
          <p:cNvGrpSpPr/>
          <p:nvPr/>
        </p:nvGrpSpPr>
        <p:grpSpPr>
          <a:xfrm>
            <a:off x="722376" y="4965192"/>
            <a:ext cx="9683496" cy="3931920"/>
            <a:chOff x="722376" y="4965192"/>
            <a:chExt cx="9683496" cy="3931920"/>
          </a:xfrm>
        </p:grpSpPr>
        <p:sp>
          <p:nvSpPr>
            <p:cNvPr id="18" name="Card"/>
            <p:cNvSpPr/>
            <p:nvPr/>
          </p:nvSpPr>
          <p:spPr>
            <a:xfrm>
              <a:off x="722376" y="4965192"/>
              <a:ext cx="9683496" cy="3931920"/>
            </a:xfrm>
            <a:prstGeom prst="roundRect">
              <a:avLst>
                <a:gd name="adj" fmla="val 4186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Number"/>
            <p:cNvSpPr txBox="1"/>
            <p:nvPr/>
          </p:nvSpPr>
          <p:spPr>
            <a:xfrm>
              <a:off x="1078992" y="5221224"/>
              <a:ext cx="868680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3000" b="1" i="0">
                  <a:solidFill>
                    <a:schemeClr val="accent1"/>
                  </a:solidFill>
                  <a:latin typeface="+mj-lt"/>
                </a:rPr>
                <a:t>1</a:t>
              </a:r>
            </a:p>
          </p:txBody>
        </p:sp>
        <p:sp>
          <p:nvSpPr>
            <p:cNvPr id="20" name="Heading"/>
            <p:cNvSpPr txBox="1"/>
            <p:nvPr/>
          </p:nvSpPr>
          <p:spPr>
            <a:xfrm>
              <a:off x="1947672" y="5221224"/>
              <a:ext cx="8101584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INTRODUCTION &amp; PROBLEM STATEMENT</a:t>
              </a:r>
            </a:p>
          </p:txBody>
        </p:sp>
        <p:sp>
          <p:nvSpPr>
            <p:cNvPr id="21" name="Introduction text"/>
            <p:cNvSpPr txBox="1"/>
            <p:nvPr/>
          </p:nvSpPr>
          <p:spPr>
            <a:xfrm>
              <a:off x="1078992" y="6108192"/>
              <a:ext cx="8970264" cy="25146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sz="2000" b="1" i="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Background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Brief context of the problem domain.</a:t>
              </a:r>
            </a:p>
            <a:p>
              <a:pPr algn="l" marL="274320" indent="-274320">
                <a:spcAft>
                  <a:spcPts val="16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Who is affected and why a solution matters.</a:t>
              </a:r>
            </a:p>
            <a:p>
              <a:pPr algn="l">
                <a:spcAft>
                  <a:spcPts val="400"/>
                </a:spcAft>
                <a:buNone/>
              </a:pPr>
              <a:r>
                <a:rPr sz="2000" b="1" i="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Problem Statement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Clearly explain the problem the artifact will solve.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Highlight why existing solutions fall short.</a:t>
              </a:r>
            </a:p>
          </p:txBody>
        </p:sp>
      </p:grpSp>
      <p:grpSp>
        <p:nvGrpSpPr>
          <p:cNvPr id="22" name="Section 3 - System Design"/>
          <p:cNvGrpSpPr/>
          <p:nvPr/>
        </p:nvGrpSpPr>
        <p:grpSpPr>
          <a:xfrm>
            <a:off x="722376" y="9262872"/>
            <a:ext cx="9683496" cy="14987016"/>
            <a:chOff x="722376" y="9262872"/>
            <a:chExt cx="9683496" cy="14987016"/>
          </a:xfrm>
        </p:grpSpPr>
        <p:sp>
          <p:nvSpPr>
            <p:cNvPr id="23" name="Card"/>
            <p:cNvSpPr/>
            <p:nvPr/>
          </p:nvSpPr>
          <p:spPr>
            <a:xfrm>
              <a:off x="722376" y="9262872"/>
              <a:ext cx="9683496" cy="14987016"/>
            </a:xfrm>
            <a:prstGeom prst="roundRect">
              <a:avLst>
                <a:gd name="adj" fmla="val 1699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Number"/>
            <p:cNvSpPr txBox="1"/>
            <p:nvPr/>
          </p:nvSpPr>
          <p:spPr>
            <a:xfrm>
              <a:off x="1078992" y="9518904"/>
              <a:ext cx="868680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3000" b="1" i="0">
                  <a:solidFill>
                    <a:schemeClr val="accent1"/>
                  </a:solidFill>
                  <a:latin typeface="+mj-lt"/>
                </a:rPr>
                <a:t>3</a:t>
              </a:r>
            </a:p>
          </p:txBody>
        </p:sp>
        <p:sp>
          <p:nvSpPr>
            <p:cNvPr id="25" name="Heading"/>
            <p:cNvSpPr txBox="1"/>
            <p:nvPr/>
          </p:nvSpPr>
          <p:spPr>
            <a:xfrm>
              <a:off x="1947672" y="9518904"/>
              <a:ext cx="8101584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SYSTEM DESIGN</a:t>
              </a:r>
            </a:p>
          </p:txBody>
        </p:sp>
        <p:sp>
          <p:nvSpPr>
            <p:cNvPr id="26" name="Design list 1"/>
            <p:cNvSpPr txBox="1"/>
            <p:nvPr/>
          </p:nvSpPr>
          <p:spPr>
            <a:xfrm>
              <a:off x="1078992" y="10405872"/>
              <a:ext cx="4302252" cy="2037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Functional and non-functional requirements.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System architecture and main components.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Design models: use-case, class, ERD or wireframes.</a:t>
              </a:r>
            </a:p>
          </p:txBody>
        </p:sp>
        <p:sp>
          <p:nvSpPr>
            <p:cNvPr id="27" name="Design list 2"/>
            <p:cNvSpPr txBox="1"/>
            <p:nvPr/>
          </p:nvSpPr>
          <p:spPr>
            <a:xfrm>
              <a:off x="5747004" y="10405872"/>
              <a:ext cx="4302252" cy="2037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Tools, technologies and frameworks used.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Development approach (e.g. Agile, prototyping).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Testing strategy (unit, integration, user).</a:t>
              </a:r>
            </a:p>
          </p:txBody>
        </p:sp>
        <p:sp>
          <p:nvSpPr>
            <p:cNvPr id="28" name="Design box 1"/>
            <p:cNvSpPr/>
            <p:nvPr/>
          </p:nvSpPr>
          <p:spPr>
            <a:xfrm>
              <a:off x="1078992" y="12671552"/>
              <a:ext cx="1762506" cy="1371600"/>
            </a:xfrm>
            <a:prstGeom prst="roundRect">
              <a:avLst>
                <a:gd name="adj" fmla="val 933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Users &amp;</a:t>
              </a:r>
            </a:p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Requirements</a:t>
              </a:r>
            </a:p>
          </p:txBody>
        </p:sp>
        <p:sp>
          <p:nvSpPr>
            <p:cNvPr id="29" name="Arrow 1"/>
            <p:cNvSpPr/>
            <p:nvPr/>
          </p:nvSpPr>
          <p:spPr>
            <a:xfrm>
              <a:off x="2969514" y="13165328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esign box 2"/>
            <p:cNvSpPr/>
            <p:nvPr/>
          </p:nvSpPr>
          <p:spPr>
            <a:xfrm>
              <a:off x="3481578" y="12671552"/>
              <a:ext cx="1762506" cy="1371600"/>
            </a:xfrm>
            <a:prstGeom prst="roundRect">
              <a:avLst>
                <a:gd name="adj" fmla="val 933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Interface</a:t>
              </a:r>
            </a:p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Layer</a:t>
              </a:r>
            </a:p>
          </p:txBody>
        </p:sp>
        <p:sp>
          <p:nvSpPr>
            <p:cNvPr id="31" name="Arrow 2"/>
            <p:cNvSpPr/>
            <p:nvPr/>
          </p:nvSpPr>
          <p:spPr>
            <a:xfrm>
              <a:off x="5372100" y="13165328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esign box 3"/>
            <p:cNvSpPr/>
            <p:nvPr/>
          </p:nvSpPr>
          <p:spPr>
            <a:xfrm>
              <a:off x="5884164" y="12671552"/>
              <a:ext cx="1762506" cy="1371600"/>
            </a:xfrm>
            <a:prstGeom prst="roundRect">
              <a:avLst>
                <a:gd name="adj" fmla="val 933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Application</a:t>
              </a:r>
            </a:p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Logic / API</a:t>
              </a:r>
            </a:p>
          </p:txBody>
        </p:sp>
        <p:sp>
          <p:nvSpPr>
            <p:cNvPr id="33" name="Arrow 3"/>
            <p:cNvSpPr/>
            <p:nvPr/>
          </p:nvSpPr>
          <p:spPr>
            <a:xfrm>
              <a:off x="7774686" y="13165328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esign box 4"/>
            <p:cNvSpPr/>
            <p:nvPr/>
          </p:nvSpPr>
          <p:spPr>
            <a:xfrm>
              <a:off x="8286750" y="12671552"/>
              <a:ext cx="1762506" cy="1371600"/>
            </a:xfrm>
            <a:prstGeom prst="roundRect">
              <a:avLst>
                <a:gd name="adj" fmla="val 933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Data</a:t>
              </a:r>
            </a:p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Layer</a:t>
              </a:r>
            </a:p>
          </p:txBody>
        </p:sp>
        <p:sp>
          <p:nvSpPr>
            <p:cNvPr id="35" name="Design caption"/>
            <p:cNvSpPr txBox="1"/>
            <p:nvPr/>
          </p:nvSpPr>
          <p:spPr>
            <a:xfrm>
              <a:off x="1078992" y="14116304"/>
              <a:ext cx="8970264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2. [High-level design — replace with your own architecture, UML model or wireframes]</a:t>
              </a:r>
            </a:p>
          </p:txBody>
        </p:sp>
        <p:pic>
          <p:nvPicPr>
            <p:cNvPr id="36" name="Architecture Diagram picture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8992" y="14756384"/>
              <a:ext cx="8970264" cy="4065524"/>
            </a:xfrm>
            <a:prstGeom prst="rect">
              <a:avLst/>
            </a:prstGeom>
          </p:spPr>
        </p:pic>
        <p:sp>
          <p:nvSpPr>
            <p:cNvPr id="37" name="Architecture Diagram caption"/>
            <p:cNvSpPr txBox="1"/>
            <p:nvPr/>
          </p:nvSpPr>
          <p:spPr>
            <a:xfrm>
              <a:off x="1078992" y="18895060"/>
              <a:ext cx="8970264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3. [System architecture]</a:t>
              </a:r>
            </a:p>
          </p:txBody>
        </p:sp>
        <p:pic>
          <p:nvPicPr>
            <p:cNvPr id="38" name="Erd / Uml / Wireframes picture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8992" y="19480276"/>
              <a:ext cx="8970264" cy="4065524"/>
            </a:xfrm>
            <a:prstGeom prst="rect">
              <a:avLst/>
            </a:prstGeom>
          </p:spPr>
        </p:pic>
        <p:sp>
          <p:nvSpPr>
            <p:cNvPr id="39" name="Erd / Uml / Wireframes caption"/>
            <p:cNvSpPr txBox="1"/>
            <p:nvPr/>
          </p:nvSpPr>
          <p:spPr>
            <a:xfrm>
              <a:off x="1078992" y="23618952"/>
              <a:ext cx="8970264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4. [Data, class or interface design]</a:t>
              </a:r>
            </a:p>
          </p:txBody>
        </p:sp>
      </p:grpSp>
      <p:grpSp>
        <p:nvGrpSpPr>
          <p:cNvPr id="40" name="Section 5 - Conclusion"/>
          <p:cNvGrpSpPr/>
          <p:nvPr/>
        </p:nvGrpSpPr>
        <p:grpSpPr>
          <a:xfrm>
            <a:off x="722376" y="24615648"/>
            <a:ext cx="9683496" cy="2743200"/>
            <a:chOff x="722376" y="24615648"/>
            <a:chExt cx="9683496" cy="2743200"/>
          </a:xfrm>
        </p:grpSpPr>
        <p:sp>
          <p:nvSpPr>
            <p:cNvPr id="41" name="Card"/>
            <p:cNvSpPr/>
            <p:nvPr/>
          </p:nvSpPr>
          <p:spPr>
            <a:xfrm>
              <a:off x="722376" y="24615648"/>
              <a:ext cx="9683496" cy="2743200"/>
            </a:xfrm>
            <a:prstGeom prst="roundRect">
              <a:avLst>
                <a:gd name="adj" fmla="val 6000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Number"/>
            <p:cNvSpPr txBox="1"/>
            <p:nvPr/>
          </p:nvSpPr>
          <p:spPr>
            <a:xfrm>
              <a:off x="1078992" y="24871680"/>
              <a:ext cx="868680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3000" b="1" i="0">
                  <a:solidFill>
                    <a:schemeClr val="accent1"/>
                  </a:solidFill>
                  <a:latin typeface="+mj-lt"/>
                </a:rPr>
                <a:t>5</a:t>
              </a:r>
            </a:p>
          </p:txBody>
        </p:sp>
        <p:sp>
          <p:nvSpPr>
            <p:cNvPr id="43" name="Heading"/>
            <p:cNvSpPr txBox="1"/>
            <p:nvPr/>
          </p:nvSpPr>
          <p:spPr>
            <a:xfrm>
              <a:off x="1947672" y="24871680"/>
              <a:ext cx="8101584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CONCLUSION</a:t>
              </a:r>
            </a:p>
          </p:txBody>
        </p:sp>
        <p:sp>
          <p:nvSpPr>
            <p:cNvPr id="44" name="Conclusion text"/>
            <p:cNvSpPr txBox="1"/>
            <p:nvPr/>
          </p:nvSpPr>
          <p:spPr>
            <a:xfrm>
              <a:off x="1078992" y="25758648"/>
              <a:ext cx="8970264" cy="1325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Summarise the main findings.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State the artifact's contribution to theory and practice.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Reflect on whether the design requirements were met.</a:t>
              </a:r>
            </a:p>
          </p:txBody>
        </p:sp>
      </p:grpSp>
      <p:grpSp>
        <p:nvGrpSpPr>
          <p:cNvPr id="45" name="Section 2 - Literature Review"/>
          <p:cNvGrpSpPr/>
          <p:nvPr/>
        </p:nvGrpSpPr>
        <p:grpSpPr>
          <a:xfrm>
            <a:off x="10981944" y="4965192"/>
            <a:ext cx="9683496" cy="9052560"/>
            <a:chOff x="10981944" y="4965192"/>
            <a:chExt cx="9683496" cy="9052560"/>
          </a:xfrm>
        </p:grpSpPr>
        <p:sp>
          <p:nvSpPr>
            <p:cNvPr id="46" name="Card"/>
            <p:cNvSpPr/>
            <p:nvPr/>
          </p:nvSpPr>
          <p:spPr>
            <a:xfrm>
              <a:off x="10981944" y="4965192"/>
              <a:ext cx="9683496" cy="9052560"/>
            </a:xfrm>
            <a:prstGeom prst="roundRect">
              <a:avLst>
                <a:gd name="adj" fmla="val 1818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Number"/>
            <p:cNvSpPr txBox="1"/>
            <p:nvPr/>
          </p:nvSpPr>
          <p:spPr>
            <a:xfrm>
              <a:off x="11338560" y="5221224"/>
              <a:ext cx="868680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3000" b="1" i="0">
                  <a:solidFill>
                    <a:schemeClr val="accent1"/>
                  </a:solidFill>
                  <a:latin typeface="+mj-lt"/>
                </a:rPr>
                <a:t>2</a:t>
              </a:r>
            </a:p>
          </p:txBody>
        </p:sp>
        <p:sp>
          <p:nvSpPr>
            <p:cNvPr id="48" name="Heading"/>
            <p:cNvSpPr txBox="1"/>
            <p:nvPr/>
          </p:nvSpPr>
          <p:spPr>
            <a:xfrm>
              <a:off x="12207240" y="5221224"/>
              <a:ext cx="8101584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LITERATURE REVIEW</a:t>
              </a:r>
            </a:p>
          </p:txBody>
        </p:sp>
        <p:sp>
          <p:nvSpPr>
            <p:cNvPr id="49" name="Literature review text"/>
            <p:cNvSpPr txBox="1"/>
            <p:nvPr/>
          </p:nvSpPr>
          <p:spPr>
            <a:xfrm>
              <a:off x="11338560" y="6108192"/>
              <a:ext cx="8970264" cy="15849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Key concepts and theories behind the artifact.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Review of existing systems and related work.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Strengths and limitations of current approaches.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The gap your artifact fills.</a:t>
              </a:r>
            </a:p>
          </p:txBody>
        </p:sp>
        <p:graphicFrame>
          <p:nvGraphicFramePr>
            <p:cNvPr id="50" name="Comparison table"/>
            <p:cNvGraphicFramePr>
              <a:graphicFrameLocks noGrp="1"/>
            </p:cNvGraphicFramePr>
            <p:nvPr/>
          </p:nvGraphicFramePr>
          <p:xfrm>
            <a:off x="11338560" y="7848600"/>
            <a:ext cx="8970264" cy="1920240"/>
          </p:xfrm>
          <a:graphic>
            <a:graphicData uri="http://schemas.openxmlformats.org/drawingml/2006/table">
              <a:tbl>
                <a:tblPr firstRow="0" bandRow="0">
                  <a:tableStyleId>{5940675A-B579-460E-94D1-54222C63F5DA}</a:tableStyleId>
                </a:tblPr>
                <a:tblGrid>
                  <a:gridCol w="3408700"/>
                  <a:gridCol w="2780782"/>
                  <a:gridCol w="2780782"/>
                </a:tblGrid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Existing work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Strength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Limitation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[Author (Year)]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[System / App B]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[Author (Year)]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tx1"/>
                            </a:solidFill>
                            <a:latin typeface="+mn-lt"/>
                          </a:rPr>
                          <a:t>Proposed artifact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 gridSpan="2"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[How it addresses the gap]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 hMerge="1"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/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</a:tr>
              </a:tbl>
            </a:graphicData>
          </a:graphic>
        </p:graphicFrame>
        <p:pic>
          <p:nvPicPr>
            <p:cNvPr id="51" name="Framework picture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338560" y="9970008"/>
              <a:ext cx="8970264" cy="3343656"/>
            </a:xfrm>
            <a:prstGeom prst="rect">
              <a:avLst/>
            </a:prstGeom>
          </p:spPr>
        </p:pic>
        <p:sp>
          <p:nvSpPr>
            <p:cNvPr id="52" name="Framework caption"/>
            <p:cNvSpPr txBox="1"/>
            <p:nvPr/>
          </p:nvSpPr>
          <p:spPr>
            <a:xfrm>
              <a:off x="11338560" y="13386816"/>
              <a:ext cx="8970264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1. [Conceptual framework or theory behind the artifact]</a:t>
              </a:r>
            </a:p>
          </p:txBody>
        </p:sp>
      </p:grpSp>
      <p:grpSp>
        <p:nvGrpSpPr>
          <p:cNvPr id="53" name="Section 4 - Results &amp; Discussion"/>
          <p:cNvGrpSpPr/>
          <p:nvPr/>
        </p:nvGrpSpPr>
        <p:grpSpPr>
          <a:xfrm>
            <a:off x="10981944" y="14383512"/>
            <a:ext cx="9683496" cy="9866376"/>
            <a:chOff x="10981944" y="14383512"/>
            <a:chExt cx="9683496" cy="9866376"/>
          </a:xfrm>
        </p:grpSpPr>
        <p:sp>
          <p:nvSpPr>
            <p:cNvPr id="54" name="Card"/>
            <p:cNvSpPr/>
            <p:nvPr/>
          </p:nvSpPr>
          <p:spPr>
            <a:xfrm>
              <a:off x="10981944" y="14383512"/>
              <a:ext cx="9683496" cy="9866376"/>
            </a:xfrm>
            <a:prstGeom prst="roundRect">
              <a:avLst>
                <a:gd name="adj" fmla="val 1699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Number"/>
            <p:cNvSpPr txBox="1"/>
            <p:nvPr/>
          </p:nvSpPr>
          <p:spPr>
            <a:xfrm>
              <a:off x="11338560" y="14639544"/>
              <a:ext cx="868680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3000" b="1" i="0">
                  <a:solidFill>
                    <a:schemeClr val="accent1"/>
                  </a:solidFill>
                  <a:latin typeface="+mj-lt"/>
                </a:rPr>
                <a:t>4</a:t>
              </a:r>
            </a:p>
          </p:txBody>
        </p:sp>
        <p:sp>
          <p:nvSpPr>
            <p:cNvPr id="56" name="Heading"/>
            <p:cNvSpPr txBox="1"/>
            <p:nvPr/>
          </p:nvSpPr>
          <p:spPr>
            <a:xfrm>
              <a:off x="12207240" y="14639544"/>
              <a:ext cx="8101584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RESULTS &amp; DISCUSSION</a:t>
              </a:r>
            </a:p>
          </p:txBody>
        </p:sp>
        <p:sp>
          <p:nvSpPr>
            <p:cNvPr id="57" name="Results text"/>
            <p:cNvSpPr txBox="1"/>
            <p:nvPr/>
          </p:nvSpPr>
          <p:spPr>
            <a:xfrm>
              <a:off x="11338560" y="15526512"/>
              <a:ext cx="8970264" cy="1168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Demonstrate the working artifact (screenshots, demo link).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Report evaluation results against the requirements.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Discuss how the artifact solves the stated problem.</a:t>
              </a:r>
            </a:p>
          </p:txBody>
        </p:sp>
        <p:pic>
          <p:nvPicPr>
            <p:cNvPr id="58" name="Artifact screenshot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338560" y="16877792"/>
              <a:ext cx="8970264" cy="4839208"/>
            </a:xfrm>
            <a:prstGeom prst="rect">
              <a:avLst/>
            </a:prstGeom>
          </p:spPr>
        </p:pic>
        <p:sp>
          <p:nvSpPr>
            <p:cNvPr id="59" name="Screenshot caption"/>
            <p:cNvSpPr txBox="1"/>
            <p:nvPr/>
          </p:nvSpPr>
          <p:spPr>
            <a:xfrm>
              <a:off x="11338560" y="21790152"/>
              <a:ext cx="8970264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5. [The working artifact in use]</a:t>
              </a:r>
            </a:p>
          </p:txBody>
        </p:sp>
        <p:graphicFrame>
          <p:nvGraphicFramePr>
            <p:cNvPr id="60" name="Evaluation table"/>
            <p:cNvGraphicFramePr>
              <a:graphicFrameLocks noGrp="1"/>
            </p:cNvGraphicFramePr>
            <p:nvPr/>
          </p:nvGraphicFramePr>
          <p:xfrm>
            <a:off x="11338560" y="22329648"/>
            <a:ext cx="8970263" cy="1645920"/>
          </p:xfrm>
          <a:graphic>
            <a:graphicData uri="http://schemas.openxmlformats.org/drawingml/2006/table">
              <a:tbl>
                <a:tblPr firstRow="0" bandRow="0">
                  <a:tableStyleId>{5940675A-B579-460E-94D1-54222C63F5DA}</a:tableStyleId>
                </a:tblPr>
                <a:tblGrid>
                  <a:gridCol w="2691079"/>
                  <a:gridCol w="3408700"/>
                  <a:gridCol w="1435242"/>
                  <a:gridCol w="1435242"/>
                </a:tblGrid>
                <a:tr h="411480"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Evaluation criterion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Method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Target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Result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</a:tr>
                <a:tr h="411480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Functionality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Test cases passed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411480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Usability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User testing / SUS survey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411480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Performance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Response time, accuracy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61" name="Section 6 - Recommendations &amp; Future Work"/>
          <p:cNvGrpSpPr/>
          <p:nvPr/>
        </p:nvGrpSpPr>
        <p:grpSpPr>
          <a:xfrm>
            <a:off x="10981944" y="24615648"/>
            <a:ext cx="9683496" cy="2743200"/>
            <a:chOff x="10981944" y="24615648"/>
            <a:chExt cx="9683496" cy="2743200"/>
          </a:xfrm>
        </p:grpSpPr>
        <p:sp>
          <p:nvSpPr>
            <p:cNvPr id="62" name="Card"/>
            <p:cNvSpPr/>
            <p:nvPr/>
          </p:nvSpPr>
          <p:spPr>
            <a:xfrm>
              <a:off x="10981944" y="24615648"/>
              <a:ext cx="9683496" cy="2743200"/>
            </a:xfrm>
            <a:prstGeom prst="roundRect">
              <a:avLst>
                <a:gd name="adj" fmla="val 6000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Number"/>
            <p:cNvSpPr txBox="1"/>
            <p:nvPr/>
          </p:nvSpPr>
          <p:spPr>
            <a:xfrm>
              <a:off x="11338560" y="24871680"/>
              <a:ext cx="868680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3000" b="1" i="0">
                  <a:solidFill>
                    <a:schemeClr val="accent1"/>
                  </a:solidFill>
                  <a:latin typeface="+mj-lt"/>
                </a:rPr>
                <a:t>6</a:t>
              </a:r>
            </a:p>
          </p:txBody>
        </p:sp>
        <p:sp>
          <p:nvSpPr>
            <p:cNvPr id="64" name="Heading"/>
            <p:cNvSpPr txBox="1"/>
            <p:nvPr/>
          </p:nvSpPr>
          <p:spPr>
            <a:xfrm>
              <a:off x="12207240" y="24871680"/>
              <a:ext cx="8101584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RECOMMENDATIONS &amp; FUTURE WORK</a:t>
              </a:r>
            </a:p>
          </p:txBody>
        </p:sp>
        <p:sp>
          <p:nvSpPr>
            <p:cNvPr id="65" name="Recommendations text"/>
            <p:cNvSpPr txBox="1"/>
            <p:nvPr/>
          </p:nvSpPr>
          <p:spPr>
            <a:xfrm>
              <a:off x="11338560" y="25758648"/>
              <a:ext cx="8970264" cy="1325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Recommendations for users, organisations or adopters.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Limitations of the artifact and of the evaluation.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Planned improvements, new features or extensions.</a:t>
              </a:r>
            </a:p>
          </p:txBody>
        </p:sp>
      </p:grpSp>
      <p:grpSp>
        <p:nvGrpSpPr>
          <p:cNvPr id="66" name="References and QR codes"/>
          <p:cNvGrpSpPr/>
          <p:nvPr/>
        </p:nvGrpSpPr>
        <p:grpSpPr>
          <a:xfrm>
            <a:off x="722376" y="27715464"/>
            <a:ext cx="19943064" cy="1837944"/>
            <a:chOff x="722376" y="27715464"/>
            <a:chExt cx="19943064" cy="1837944"/>
          </a:xfrm>
        </p:grpSpPr>
        <p:sp>
          <p:nvSpPr>
            <p:cNvPr id="67" name="Panel"/>
            <p:cNvSpPr/>
            <p:nvPr/>
          </p:nvSpPr>
          <p:spPr>
            <a:xfrm>
              <a:off x="722376" y="27715464"/>
              <a:ext cx="19943064" cy="1837944"/>
            </a:xfrm>
            <a:prstGeom prst="roundRect">
              <a:avLst>
                <a:gd name="adj" fmla="val 8955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ferences label"/>
            <p:cNvSpPr txBox="1"/>
            <p:nvPr/>
          </p:nvSpPr>
          <p:spPr>
            <a:xfrm>
              <a:off x="1152144" y="27953208"/>
              <a:ext cx="15462504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6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REFERENCES</a:t>
              </a:r>
            </a:p>
          </p:txBody>
        </p:sp>
        <p:sp>
          <p:nvSpPr>
            <p:cNvPr id="69" name="References list"/>
            <p:cNvSpPr txBox="1"/>
            <p:nvPr/>
          </p:nvSpPr>
          <p:spPr>
            <a:xfrm>
              <a:off x="1152144" y="28373832"/>
              <a:ext cx="15462504" cy="10149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List key references used in the study (e.g. APA 7th style), including every source cited in the literature review.</a:t>
              </a:r>
            </a:p>
          </p:txBody>
        </p:sp>
        <p:pic>
          <p:nvPicPr>
            <p:cNvPr id="70" name="Code QR picture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854928" y="27880056"/>
              <a:ext cx="1508760" cy="1508760"/>
            </a:xfrm>
            <a:prstGeom prst="rect">
              <a:avLst/>
            </a:prstGeom>
          </p:spPr>
        </p:pic>
        <p:pic>
          <p:nvPicPr>
            <p:cNvPr id="71" name="Demo QR picture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888968" y="27880056"/>
              <a:ext cx="1508760" cy="15087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uide title"/>
          <p:cNvGrpSpPr/>
          <p:nvPr/>
        </p:nvGrpSpPr>
        <p:grpSpPr>
          <a:xfrm>
            <a:off x="722376" y="722376"/>
            <a:ext cx="19939248" cy="3236976"/>
            <a:chOff x="722376" y="722376"/>
            <a:chExt cx="19939248" cy="3236976"/>
          </a:xfrm>
        </p:grpSpPr>
        <p:sp>
          <p:nvSpPr>
            <p:cNvPr id="3" name="Panel"/>
            <p:cNvSpPr/>
            <p:nvPr/>
          </p:nvSpPr>
          <p:spPr>
            <a:xfrm>
              <a:off x="722376" y="722376"/>
              <a:ext cx="19939248" cy="3236976"/>
            </a:xfrm>
            <a:prstGeom prst="roundRect">
              <a:avLst>
                <a:gd name="adj" fmla="val 5084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Title"/>
            <p:cNvSpPr txBox="1"/>
            <p:nvPr/>
          </p:nvSpPr>
          <p:spPr>
            <a:xfrm>
              <a:off x="1271016" y="1179576"/>
              <a:ext cx="18841968" cy="10972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5400" b="1" i="0">
                  <a:solidFill>
                    <a:schemeClr val="bg1"/>
                  </a:solidFill>
                  <a:latin typeface="+mj-lt"/>
                </a:rPr>
                <a:t>A1 POSTER LAYOUT, CUSTOMISING &amp; PRINTING GUIDE</a:t>
              </a:r>
            </a:p>
          </p:txBody>
        </p:sp>
        <p:sp>
          <p:nvSpPr>
            <p:cNvPr id="5" name="Subtitle"/>
            <p:cNvSpPr txBox="1"/>
            <p:nvPr/>
          </p:nvSpPr>
          <p:spPr>
            <a:xfrm>
              <a:off x="1271016" y="2505456"/>
              <a:ext cx="18841968" cy="10972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2800" b="0" i="0">
                  <a:solidFill>
                    <a:schemeClr val="bg1">
                      <a:lumMod val="88000"/>
                    </a:schemeClr>
                  </a:solidFill>
                  <a:latin typeface="+mn-lt"/>
                </a:rPr>
                <a:t>Poster A – Showcase.  Remove this instruction slide before submitting or printing the poster.</a:t>
              </a:r>
            </a:p>
          </p:txBody>
        </p:sp>
      </p:grpSp>
      <p:grpSp>
        <p:nvGrpSpPr>
          <p:cNvPr id="6" name="Guide - Poster Specifications"/>
          <p:cNvGrpSpPr/>
          <p:nvPr/>
        </p:nvGrpSpPr>
        <p:grpSpPr>
          <a:xfrm>
            <a:off x="722376" y="4416552"/>
            <a:ext cx="19939248" cy="4706369"/>
            <a:chOff x="722376" y="4416552"/>
            <a:chExt cx="19939248" cy="4706369"/>
          </a:xfrm>
        </p:grpSpPr>
        <p:sp>
          <p:nvSpPr>
            <p:cNvPr id="7" name="Card"/>
            <p:cNvSpPr/>
            <p:nvPr/>
          </p:nvSpPr>
          <p:spPr>
            <a:xfrm>
              <a:off x="722376" y="4416552"/>
              <a:ext cx="19939248" cy="4706369"/>
            </a:xfrm>
            <a:prstGeom prst="roundRect">
              <a:avLst>
                <a:gd name="adj" fmla="val 3497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ading"/>
            <p:cNvSpPr txBox="1"/>
            <p:nvPr/>
          </p:nvSpPr>
          <p:spPr>
            <a:xfrm>
              <a:off x="1271016" y="4828032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POSTER SPECIFICATIONS</a:t>
              </a:r>
            </a:p>
          </p:txBody>
        </p:sp>
        <p:sp>
          <p:nvSpPr>
            <p:cNvPr id="9" name="Items"/>
            <p:cNvSpPr txBox="1"/>
            <p:nvPr/>
          </p:nvSpPr>
          <p:spPr>
            <a:xfrm>
              <a:off x="1271016" y="5879592"/>
              <a:ext cx="18841968" cy="296900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Size: A1 portrait, 59.4 cm × 84.1 cm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Outer margins: 2 cm on all four sides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Two columns: 26.9 cm each with 1.6 cm spacing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Six sections: Introduction &amp; Problem Statement, Literature Review, System Design, Results &amp; Discussion, Conclusion, Recommendations &amp; Future Work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Create all content at the final poster size</a:t>
              </a:r>
            </a:p>
          </p:txBody>
        </p:sp>
      </p:grpSp>
      <p:grpSp>
        <p:nvGrpSpPr>
          <p:cNvPr id="10" name="Guide - Customise Colours, Fonts And Layout"/>
          <p:cNvGrpSpPr/>
          <p:nvPr/>
        </p:nvGrpSpPr>
        <p:grpSpPr>
          <a:xfrm>
            <a:off x="722376" y="9488681"/>
            <a:ext cx="19939248" cy="6469480"/>
            <a:chOff x="722376" y="9488681"/>
            <a:chExt cx="19939248" cy="6469480"/>
          </a:xfrm>
        </p:grpSpPr>
        <p:sp>
          <p:nvSpPr>
            <p:cNvPr id="11" name="Card"/>
            <p:cNvSpPr/>
            <p:nvPr/>
          </p:nvSpPr>
          <p:spPr>
            <a:xfrm>
              <a:off x="722376" y="9488681"/>
              <a:ext cx="19939248" cy="6469480"/>
            </a:xfrm>
            <a:prstGeom prst="roundRect">
              <a:avLst>
                <a:gd name="adj" fmla="val 254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ading"/>
            <p:cNvSpPr txBox="1"/>
            <p:nvPr/>
          </p:nvSpPr>
          <p:spPr>
            <a:xfrm>
              <a:off x="1271016" y="9900161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CUSTOMISE COLOURS, FONTS AND LAYOUT</a:t>
              </a:r>
            </a:p>
          </p:txBody>
        </p:sp>
        <p:sp>
          <p:nvSpPr>
            <p:cNvPr id="13" name="Items"/>
            <p:cNvSpPr txBox="1"/>
            <p:nvPr/>
          </p:nvSpPr>
          <p:spPr>
            <a:xfrm>
              <a:off x="1271016" y="10951721"/>
              <a:ext cx="18841968" cy="47321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Colours: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Design › Variants › ▾ More › Colors. Pick a palette or choose Customize Colors. Every shape uses theme colours, so the whole poster changes at once.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Fonts: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Design › Variants › ▾ More › Fonts.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Move a section: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each section is one group. Click its edge and drag it; sections in the same column share a width, so they swap cleanly.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Edit inside a section: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click the group, then click the item. To resize parts, right-click › Group › Ungroup, then regroup (Ctrl/Cmd + G).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Find, hide or reorder sections: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Home › Arrange › Selection Pane.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Pictures: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right-click a placeholder › Change Picture. Use Crop › Fill if the image looks stretched.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Design diagram: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the System Design boxes are ordinary shapes — retype, recolour, add or delete them.</a:t>
              </a:r>
            </a:p>
          </p:txBody>
        </p:sp>
      </p:grpSp>
      <p:grpSp>
        <p:nvGrpSpPr>
          <p:cNvPr id="14" name="Guide - Recommended Font Sizes"/>
          <p:cNvGrpSpPr/>
          <p:nvPr/>
        </p:nvGrpSpPr>
        <p:grpSpPr>
          <a:xfrm>
            <a:off x="722376" y="16323921"/>
            <a:ext cx="19939248" cy="3824814"/>
            <a:chOff x="722376" y="16323921"/>
            <a:chExt cx="19939248" cy="3824814"/>
          </a:xfrm>
        </p:grpSpPr>
        <p:sp>
          <p:nvSpPr>
            <p:cNvPr id="15" name="Card"/>
            <p:cNvSpPr/>
            <p:nvPr/>
          </p:nvSpPr>
          <p:spPr>
            <a:xfrm>
              <a:off x="722376" y="16323921"/>
              <a:ext cx="19939248" cy="3824814"/>
            </a:xfrm>
            <a:prstGeom prst="roundRect">
              <a:avLst>
                <a:gd name="adj" fmla="val 4303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ading"/>
            <p:cNvSpPr txBox="1"/>
            <p:nvPr/>
          </p:nvSpPr>
          <p:spPr>
            <a:xfrm>
              <a:off x="1271016" y="16735401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RECOMMENDED FONT SIZES</a:t>
              </a:r>
            </a:p>
          </p:txBody>
        </p:sp>
        <p:sp>
          <p:nvSpPr>
            <p:cNvPr id="17" name="Items"/>
            <p:cNvSpPr txBox="1"/>
            <p:nvPr/>
          </p:nvSpPr>
          <p:spPr>
            <a:xfrm>
              <a:off x="1271016" y="17786961"/>
              <a:ext cx="18841968" cy="208745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Title: 48–54 pt  |  Section headings: 26–28 pt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Group members: 20–24 pt  |  Body: 18–20 pt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Captions &amp; tables: 14–16 pt  |  References: 12–14 pt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Screenshots: crop to the relevant screen area so interface text stays readable at 1.5 m</a:t>
              </a:r>
            </a:p>
          </p:txBody>
        </p:sp>
      </p:grpSp>
      <p:grpSp>
        <p:nvGrpSpPr>
          <p:cNvPr id="18" name="Guide - Content Checks"/>
          <p:cNvGrpSpPr/>
          <p:nvPr/>
        </p:nvGrpSpPr>
        <p:grpSpPr>
          <a:xfrm>
            <a:off x="722376" y="20514495"/>
            <a:ext cx="19939248" cy="4848556"/>
            <a:chOff x="722376" y="20514495"/>
            <a:chExt cx="19939248" cy="4848556"/>
          </a:xfrm>
        </p:grpSpPr>
        <p:sp>
          <p:nvSpPr>
            <p:cNvPr id="19" name="Card"/>
            <p:cNvSpPr/>
            <p:nvPr/>
          </p:nvSpPr>
          <p:spPr>
            <a:xfrm>
              <a:off x="722376" y="20514495"/>
              <a:ext cx="19939248" cy="4848556"/>
            </a:xfrm>
            <a:prstGeom prst="roundRect">
              <a:avLst>
                <a:gd name="adj" fmla="val 339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ading"/>
            <p:cNvSpPr txBox="1"/>
            <p:nvPr/>
          </p:nvSpPr>
          <p:spPr>
            <a:xfrm>
              <a:off x="1271016" y="20925975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CONTENT CHECKS</a:t>
              </a:r>
            </a:p>
          </p:txBody>
        </p:sp>
        <p:sp>
          <p:nvSpPr>
            <p:cNvPr id="21" name="Items"/>
            <p:cNvSpPr txBox="1"/>
            <p:nvPr/>
          </p:nvSpPr>
          <p:spPr>
            <a:xfrm>
              <a:off x="1271016" y="21977535"/>
              <a:ext cx="18841968" cy="31111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Every requirement in System Design should be evaluated in Results &amp; Discussion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Literature review: compare at least three existing works and state the gap your artifact fills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Cite every source from the literature review in the References band (APA 7th)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Use real diagrams (architecture, UML, ERD or wireframes) exported at high resolution (≥ 300 dpi)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Replace every [ ] in the evaluation table with your actual results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Point the QR codes to a working demo video, live system or code repository</a:t>
              </a:r>
            </a:p>
          </p:txBody>
        </p:sp>
      </p:grpSp>
      <p:grpSp>
        <p:nvGrpSpPr>
          <p:cNvPr id="22" name="Guide - Powerpoint &amp; Printing Checks"/>
          <p:cNvGrpSpPr/>
          <p:nvPr/>
        </p:nvGrpSpPr>
        <p:grpSpPr>
          <a:xfrm>
            <a:off x="722376" y="25728810"/>
            <a:ext cx="19939248" cy="3824814"/>
            <a:chOff x="722376" y="25728810"/>
            <a:chExt cx="19939248" cy="3824814"/>
          </a:xfrm>
        </p:grpSpPr>
        <p:sp>
          <p:nvSpPr>
            <p:cNvPr id="23" name="Card"/>
            <p:cNvSpPr/>
            <p:nvPr/>
          </p:nvSpPr>
          <p:spPr>
            <a:xfrm>
              <a:off x="722376" y="25728810"/>
              <a:ext cx="19939248" cy="3824814"/>
            </a:xfrm>
            <a:prstGeom prst="roundRect">
              <a:avLst>
                <a:gd name="adj" fmla="val 4303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ading"/>
            <p:cNvSpPr txBox="1"/>
            <p:nvPr/>
          </p:nvSpPr>
          <p:spPr>
            <a:xfrm>
              <a:off x="1271016" y="26140290"/>
              <a:ext cx="18841968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POWERPOINT &amp; PRINTING CHECKS</a:t>
              </a:r>
            </a:p>
          </p:txBody>
        </p:sp>
        <p:sp>
          <p:nvSpPr>
            <p:cNvPr id="25" name="Items"/>
            <p:cNvSpPr txBox="1"/>
            <p:nvPr/>
          </p:nvSpPr>
          <p:spPr>
            <a:xfrm>
              <a:off x="1271016" y="27191850"/>
              <a:ext cx="18841968" cy="208745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View › Guides: margin and column guides are already set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Keep all content within the poster boundaries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Export to PDF and verify dimensions before printing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Print at 100% / actual size, not Fit to Page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oster A – Showcase">
  <a:themeElements>
    <a:clrScheme name="Poster A – Showcase">
      <a:dk1>
        <a:srgbClr val="1E293B"/>
      </a:dk1>
      <a:lt1>
        <a:srgbClr val="FFFFFF"/>
      </a:lt1>
      <a:dk2>
        <a:srgbClr val="1E293B"/>
      </a:dk2>
      <a:lt2>
        <a:srgbClr val="F1F5F9"/>
      </a:lt2>
      <a:accent1>
        <a:srgbClr val="EA580C"/>
      </a:accent1>
      <a:accent2>
        <a:srgbClr val="475569"/>
      </a:accent2>
      <a:accent3>
        <a:srgbClr val="FDBA74"/>
      </a:accent3>
      <a:accent4>
        <a:srgbClr val="94A3B8"/>
      </a:accent4>
      <a:accent5>
        <a:srgbClr val="FFEDD5"/>
      </a:accent5>
      <a:accent6>
        <a:srgbClr val="64748B"/>
      </a:accent6>
      <a:hlink>
        <a:srgbClr val="C2410C"/>
      </a:hlink>
      <a:folHlink>
        <a:srgbClr val="64748B"/>
      </a:folHlink>
    </a:clrScheme>
    <a:fontScheme name="Poster A – Showca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Microsoft Office PowerPoint</Application>
  <PresentationFormat>Custom</PresentationFormat>
  <Paragraphs>129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SysDev Showcase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Development Poster Template B</dc:title>
  <dc:subject>PptxGenJS Presentation</dc:subject>
  <dc:creator>BSBS</dc:creator>
  <cp:lastModifiedBy>Dr. Tshepiso Larona Mokgetse</cp:lastModifiedBy>
  <cp:revision>1</cp:revision>
  <dcterms:created xsi:type="dcterms:W3CDTF">2026-10-12T06:40:15Z</dcterms:created>
  <dcterms:modified xsi:type="dcterms:W3CDTF">2026-10-12T06:42:11Z</dcterms:modified>
</cp:coreProperties>
</file>